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19"/>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  <Relationship Id="rId19"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image" Target="../media/image5.png"/><Relationship Id="rId15" Type="http://schemas.openxmlformats.org/officeDocument/2006/relationships/image" Target="../media/image6.png"/><Relationship Id="rId16" Type="http://schemas.openxmlformats.org/officeDocument/2006/relationships/image" Target="../media/image7.png"/><Relationship Id="rId17"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9" Type="http://schemas.openxmlformats.org/officeDocument/2006/relationships/slideLayout" Target="../slideLayouts/slideLayout1.xml"/><Relationship Id="rId20" Type="http://schemas.openxmlformats.org/officeDocument/2006/relationships/image" Target="../media/image-4-5.png"/><Relationship Id="rId21" Type="http://schemas.openxmlformats.org/officeDocument/2006/relationships/image" Target="../media/image-5-8.png"/><Relationship Id="rId22" Type="http://schemas.openxmlformats.org/officeDocument/2006/relationships/image" Target="../media/image-6-3.png"/><Relationship Id="rId23" Type="http://schemas.openxmlformats.org/officeDocument/2006/relationships/image" Target="../media/image-7-4.png"/><Relationship Id="rId24" Type="http://schemas.openxmlformats.org/officeDocument/2006/relationships/image" Target="../media/image-8-8.png"/><Relationship Id="rId25" Type="http://schemas.openxmlformats.org/officeDocument/2006/relationships/image" Target="../media/image-9-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build/assets/logo.png">    </p:cNvPr>
          <p:cNvPicPr>
            <a:picLocks noChangeAspect="1"/>
          </p:cNvPicPr>
          <p:nvPr/>
        </p:nvPicPr>
        <p:blipFill>
          <a:blip r:embed="rId2"/>
          <a:stretch>
            <a:fillRect/>
          </a:stretch>
        </p:blipFill>
        <p:spPr>
          <a:xfrm>
            <a:off x="640080" y="292608"/>
            <a:ext cx="1484797" cy="457200"/>
          </a:xfrm>
          <a:prstGeom prst="rect">
            <a:avLst/>
          </a:prstGeom>
        </p:spPr>
      </p:pic>
      <p:sp>
        <p:nvSpPr>
          <p:cNvPr id="3" name="Shape 0"/>
          <p:cNvSpPr/>
          <p:nvPr/>
        </p:nvSpPr>
        <p:spPr>
          <a:xfrm>
            <a:off x="9052560" y="310896"/>
            <a:ext cx="2496312" cy="420624"/>
          </a:xfrm>
          <a:prstGeom prst="roundRect">
            <a:avLst>
              <a:gd name="adj" fmla="val 50000"/>
            </a:avLst>
          </a:prstGeom>
          <a:solidFill>
            <a:srgbClr val="F4F4F2"/>
          </a:solidFill>
          <a:ln w="9525">
            <a:solidFill>
              <a:srgbClr val="F4F4F2"/>
            </a:solidFill>
            <a:prstDash val="solid"/>
          </a:ln>
        </p:spPr>
        <p:txBody>
          <a:bodyPr/>
          <a:p/>
        </p:txBody>
      </p:sp>
      <p:sp>
        <p:nvSpPr>
          <p:cNvPr id="4" name="Text 1"/>
          <p:cNvSpPr txBox="1"/>
          <p:nvPr/>
        </p:nvSpPr>
        <p:spPr>
          <a:xfrm>
            <a:off x="9052560" y="310896"/>
            <a:ext cx="2496312" cy="420624"/>
          </a:xfrm>
          <a:prstGeom prst="rect">
            <a:avLst/>
          </a:prstGeom>
          <a:noFill/>
          <a:ln/>
        </p:spPr>
        <p:txBody>
          <a:bodyPr wrap="square" lIns="0" tIns="0" rIns="0" bIns="0" rtlCol="0" anchor="ctr"/>
          <a:lstStyle/>
          <a:p>
            <a:pPr algn="ctr" indent="0" marL="0">
              <a:buNone/>
            </a:pPr>
            <a:r>
              <a:rPr lang="en-US" sz="1000" spc="300" kern="0" dirty="0">
                <a:solidFill>
                  <a:srgbClr val="1B1C1F"/>
                </a:solidFill>
                <a:latin typeface="Consolas" pitchFamily="34" charset="0"/>
                <a:ea typeface="Consolas" pitchFamily="34" charset="-122"/>
                <a:cs typeface="Consolas" pitchFamily="34" charset="-120"/>
              </a:rPr>
              <a:t>SILVERLINEAD.COM  ↗</a:t>
            </a:r>
            <a:endParaRPr lang="en-US" sz="1000" dirty="0"/>
          </a:p>
        </p:txBody>
      </p:sp>
      <p:sp>
        <p:nvSpPr>
          <p:cNvPr id="5" name="Shape 2"/>
          <p:cNvSpPr/>
          <p:nvPr/>
        </p:nvSpPr>
        <p:spPr>
          <a:xfrm rot="2700000">
            <a:off x="658368" y="2075688"/>
            <a:ext cx="109728" cy="109728"/>
          </a:xfrm>
          <a:prstGeom prst="rect">
            <a:avLst/>
          </a:prstGeom>
          <a:solidFill>
            <a:srgbClr val="A9AFB8"/>
          </a:solidFill>
          <a:ln w="12700">
            <a:solidFill>
              <a:srgbClr val="A9AFB8"/>
            </a:solidFill>
            <a:prstDash val="solid"/>
          </a:ln>
        </p:spPr>
        <p:txBody>
          <a:bodyPr/>
          <a:p/>
        </p:txBody>
      </p:sp>
      <p:sp>
        <p:nvSpPr>
          <p:cNvPr id="6" name="Text 3"/>
          <p:cNvSpPr txBox="1"/>
          <p:nvPr/>
        </p:nvSpPr>
        <p:spPr>
          <a:xfrm>
            <a:off x="932688" y="2011680"/>
            <a:ext cx="7315200" cy="237744"/>
          </a:xfrm>
          <a:prstGeom prst="rect">
            <a:avLst/>
          </a:prstGeom>
          <a:noFill/>
          <a:ln/>
        </p:spPr>
        <p:txBody>
          <a:bodyPr wrap="square" lIns="0" tIns="0" rIns="0" bIns="0" rtlCol="0" anchor="ctr"/>
          <a:lstStyle/>
          <a:p>
            <a:pPr indent="0" marL="0">
              <a:buNone/>
            </a:pPr>
            <a:r>
              <a:rPr lang="en-US" sz="1100" spc="500" kern="0" dirty="0">
                <a:solidFill>
                  <a:srgbClr val="A9AFB8"/>
                </a:solidFill>
                <a:latin typeface="Consolas" pitchFamily="34" charset="0"/>
                <a:ea typeface="Consolas" pitchFamily="34" charset="-122"/>
                <a:cs typeface="Consolas" pitchFamily="34" charset="-120"/>
              </a:rPr>
              <a:t>COMPANY PROFILE</a:t>
            </a:r>
            <a:endParaRPr lang="en-US" sz="1100" dirty="0"/>
          </a:p>
        </p:txBody>
      </p:sp>
      <p:sp>
        <p:nvSpPr>
          <p:cNvPr id="7" name="Text 4"/>
          <p:cNvSpPr txBox="1"/>
          <p:nvPr/>
        </p:nvSpPr>
        <p:spPr>
          <a:xfrm>
            <a:off x="640080" y="2423160"/>
            <a:ext cx="10058400" cy="1828800"/>
          </a:xfrm>
          <a:prstGeom prst="rect">
            <a:avLst/>
          </a:prstGeom>
          <a:noFill/>
          <a:ln/>
        </p:spPr>
        <p:txBody>
          <a:bodyPr wrap="square" lIns="0" tIns="0" rIns="0" bIns="0" rtlCol="0" anchor="t"/>
          <a:lstStyle/>
          <a:p>
            <a:pPr indent="0" marL="0">
              <a:lnSpc>
                <a:spcPct val="95000"/>
              </a:lnSpc>
              <a:buNone/>
            </a:pPr>
            <a:r>
              <a:rPr lang="en-US" sz="5400" dirty="0">
                <a:solidFill>
                  <a:srgbClr val="F4F4F2"/>
                </a:solidFill>
                <a:latin typeface="Arial Black" pitchFamily="34" charset="0"/>
                <a:ea typeface="Arial Black" pitchFamily="34" charset="-122"/>
                <a:cs typeface="Arial Black" pitchFamily="34" charset="-120"/>
              </a:rPr>
              <a:t>SILVERLINE</a:t>
            </a:r>
            <a:endParaRPr lang="en-US" sz="5400" dirty="0"/>
          </a:p>
          <a:p>
            <a:pPr indent="0" marL="0">
              <a:lnSpc>
                <a:spcPct val="95000"/>
              </a:lnSpc>
              <a:buNone/>
            </a:pPr>
            <a:r>
              <a:rPr lang="en-US" sz="5400" dirty="0">
                <a:solidFill>
                  <a:srgbClr val="F4F4F2"/>
                </a:solidFill>
                <a:latin typeface="Arial Black" pitchFamily="34" charset="0"/>
                <a:ea typeface="Arial Black" pitchFamily="34" charset="-122"/>
                <a:cs typeface="Arial Black" pitchFamily="34" charset="-120"/>
              </a:rPr>
              <a:t>ADVERTISING LLC</a:t>
            </a:r>
            <a:endParaRPr lang="en-US" sz="5400" dirty="0"/>
          </a:p>
        </p:txBody>
      </p:sp>
      <p:sp>
        <p:nvSpPr>
          <p:cNvPr id="8" name="Shape 5"/>
          <p:cNvSpPr/>
          <p:nvPr/>
        </p:nvSpPr>
        <p:spPr>
          <a:xfrm>
            <a:off x="640080" y="4526280"/>
            <a:ext cx="3017520" cy="0"/>
          </a:xfrm>
          <a:prstGeom prst="line">
            <a:avLst/>
          </a:prstGeom>
          <a:noFill/>
          <a:ln w="38100">
            <a:solidFill>
              <a:srgbClr val="BABEC4"/>
            </a:solidFill>
            <a:prstDash val="solid"/>
          </a:ln>
        </p:spPr>
        <p:txBody>
          <a:bodyPr/>
          <a:p/>
        </p:txBody>
      </p:sp>
      <p:sp>
        <p:nvSpPr>
          <p:cNvPr id="9" name="Text 6"/>
          <p:cNvSpPr txBox="1"/>
          <p:nvPr/>
        </p:nvSpPr>
        <p:spPr>
          <a:xfrm>
            <a:off x="640080" y="4709160"/>
            <a:ext cx="8229600" cy="457200"/>
          </a:xfrm>
          <a:prstGeom prst="rect">
            <a:avLst/>
          </a:prstGeom>
          <a:noFill/>
          <a:ln/>
        </p:spPr>
        <p:txBody>
          <a:bodyPr wrap="square" lIns="0" tIns="0" rIns="0" bIns="0" rtlCol="0" anchor="t"/>
          <a:lstStyle/>
          <a:p>
            <a:pPr indent="0" marL="0">
              <a:lnSpc>
                <a:spcPct val="110000"/>
              </a:lnSpc>
              <a:buNone/>
            </a:pPr>
            <a:r>
              <a:rPr lang="en-US" sz="2400" dirty="0">
                <a:solidFill>
                  <a:srgbClr val="F4F4F2"/>
                </a:solidFill>
                <a:latin typeface="Calibri" pitchFamily="34" charset="0"/>
                <a:ea typeface="Calibri" pitchFamily="34" charset="-122"/>
                <a:cs typeface="Calibri" pitchFamily="34" charset="-120"/>
              </a:rPr>
              <a:t>Designed to craft your presence.</a:t>
            </a:r>
            <a:endParaRPr lang="en-US" sz="2400" dirty="0"/>
          </a:p>
        </p:txBody>
      </p:sp>
      <p:sp>
        <p:nvSpPr>
          <p:cNvPr id="10" name="Text 7"/>
          <p:cNvSpPr txBox="1"/>
          <p:nvPr/>
        </p:nvSpPr>
        <p:spPr>
          <a:xfrm>
            <a:off x="640080" y="5285232"/>
            <a:ext cx="9144000" cy="365760"/>
          </a:xfrm>
          <a:prstGeom prst="rect">
            <a:avLst/>
          </a:prstGeom>
          <a:noFill/>
          <a:ln/>
        </p:spPr>
        <p:txBody>
          <a:bodyPr wrap="square" lIns="0" tIns="0" rIns="0" bIns="0" rtlCol="0" anchor="t"/>
          <a:lstStyle/>
          <a:p/>
        </p:txBody>
      </p:sp>
      <p:sp>
        <p:nvSpPr>
          <p:cNvPr id="11" name="Shape 8"/>
          <p:cNvSpPr/>
          <p:nvPr/>
        </p:nvSpPr>
        <p:spPr>
          <a:xfrm>
            <a:off x="640080" y="6355080"/>
            <a:ext cx="10908792" cy="0"/>
          </a:xfrm>
          <a:prstGeom prst="line">
            <a:avLst/>
          </a:prstGeom>
          <a:noFill/>
          <a:ln w="9525">
            <a:solidFill>
              <a:srgbClr val="4A4C53"/>
            </a:solidFill>
            <a:prstDash val="solid"/>
          </a:ln>
        </p:spPr>
        <p:txBody>
          <a:bodyPr/>
          <a:p/>
        </p:txBody>
      </p:sp>
      <p:sp>
        <p:nvSpPr>
          <p:cNvPr id="12" name="Text 9"/>
          <p:cNvSpPr txBox="1"/>
          <p:nvPr/>
        </p:nvSpPr>
        <p:spPr>
          <a:xfrm>
            <a:off x="640080" y="6428232"/>
            <a:ext cx="7132320" cy="228600"/>
          </a:xfrm>
          <a:prstGeom prst="rect">
            <a:avLst/>
          </a:prstGeom>
          <a:noFill/>
          <a:ln/>
        </p:spPr>
        <p:txBody>
          <a:bodyPr wrap="square" lIns="0" tIns="0" rIns="0" bIns="0" rtlCol="0" anchor="ctr"/>
          <a:lstStyle/>
          <a:p>
            <a:pPr indent="0" marL="0">
              <a:buNone/>
            </a:pPr>
            <a:r>
              <a:rPr lang="en-US" sz="850" spc="300" kern="0" dirty="0">
                <a:solidFill>
                  <a:srgbClr val="A9AFB8"/>
                </a:solidFill>
                <a:latin typeface="Consolas" pitchFamily="34" charset="0"/>
                <a:ea typeface="Consolas" pitchFamily="34" charset="-122"/>
                <a:cs typeface="Consolas" pitchFamily="34" charset="-120"/>
              </a:rPr>
              <a:t>BRANDING SOLUTIONS  |  PROMOTIONAL STANDS  |  BANNERS  |  SIGNAGE</a:t>
            </a:r>
            <a:endParaRPr lang="en-US" sz="850" dirty="0"/>
          </a:p>
        </p:txBody>
      </p:sp>
      <p:sp>
        <p:nvSpPr>
          <p:cNvPr id="13" name="Text 10"/>
          <p:cNvSpPr txBox="1"/>
          <p:nvPr/>
        </p:nvSpPr>
        <p:spPr>
          <a:xfrm>
            <a:off x="7891272" y="6428232"/>
            <a:ext cx="3657600" cy="228600"/>
          </a:xfrm>
          <a:prstGeom prst="rect">
            <a:avLst/>
          </a:prstGeom>
          <a:noFill/>
          <a:ln/>
        </p:spPr>
        <p:txBody>
          <a:bodyPr wrap="square" lIns="0" tIns="0" rIns="0" bIns="0" rtlCol="0" anchor="ctr"/>
          <a:lstStyle/>
          <a:p>
            <a:pPr algn="r" indent="0" marL="0">
              <a:buNone/>
            </a:pPr>
            <a:r>
              <a:rPr lang="en-US" sz="850" spc="300" kern="0" dirty="0">
                <a:solidFill>
                  <a:srgbClr val="A9AFB8"/>
                </a:solidFill>
                <a:latin typeface="Consolas" pitchFamily="34" charset="0"/>
                <a:ea typeface="Consolas" pitchFamily="34" charset="-122"/>
                <a:cs typeface="Consolas" pitchFamily="34" charset="-120"/>
              </a:rPr>
              <a:t>DUBAI, UAE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build/assets/logo.png">    </p:cNvPr>
          <p:cNvPicPr>
            <a:picLocks noChangeAspect="1"/>
          </p:cNvPicPr>
          <p:nvPr/>
        </p:nvPicPr>
        <p:blipFill>
          <a:blip r:embed="rId2"/>
          <a:stretch>
            <a:fillRect/>
          </a:stretch>
        </p:blipFill>
        <p:spPr>
          <a:xfrm>
            <a:off x="640080" y="292608"/>
            <a:ext cx="1484797" cy="457200"/>
          </a:xfrm>
          <a:prstGeom prst="rect">
            <a:avLst/>
          </a:prstGeom>
        </p:spPr>
      </p:pic>
      <p:sp>
        <p:nvSpPr>
          <p:cNvPr id="3" name="Text 0"/>
          <p:cNvSpPr txBox="1"/>
          <p:nvPr/>
        </p:nvSpPr>
        <p:spPr>
          <a:xfrm>
            <a:off x="9720072" y="411480"/>
            <a:ext cx="1828800" cy="274320"/>
          </a:xfrm>
          <a:prstGeom prst="rect">
            <a:avLst/>
          </a:prstGeom>
          <a:noFill/>
          <a:ln/>
        </p:spPr>
        <p:txBody>
          <a:bodyPr wrap="square" lIns="0" tIns="0" rIns="0" bIns="0" rtlCol="0" anchor="ctr"/>
          <a:lstStyle/>
          <a:p>
            <a:pPr algn="r" indent="0" marL="0">
              <a:buNone/>
            </a:pPr>
            <a:r>
              <a:rPr lang="en-US" sz="1000" spc="300" kern="0" dirty="0">
                <a:solidFill>
                  <a:srgbClr val="A9AFB8"/>
                </a:solidFill>
                <a:latin typeface="Consolas" pitchFamily="34" charset="0"/>
                <a:ea typeface="Consolas" pitchFamily="34" charset="-122"/>
                <a:cs typeface="Consolas" pitchFamily="34" charset="-120"/>
              </a:rPr>
              <a:t>02 / 07</a:t>
            </a:r>
            <a:endParaRPr lang="en-US" sz="1000" dirty="0"/>
          </a:p>
        </p:txBody>
      </p:sp>
      <p:sp>
        <p:nvSpPr>
          <p:cNvPr id="4" name="Shape 1"/>
          <p:cNvSpPr/>
          <p:nvPr/>
        </p:nvSpPr>
        <p:spPr>
          <a:xfrm>
            <a:off x="640080" y="6355080"/>
            <a:ext cx="10908792" cy="0"/>
          </a:xfrm>
          <a:prstGeom prst="line">
            <a:avLst/>
          </a:prstGeom>
          <a:noFill/>
          <a:ln w="9525">
            <a:solidFill>
              <a:srgbClr val="4A4C53"/>
            </a:solidFill>
            <a:prstDash val="solid"/>
          </a:ln>
        </p:spPr>
        <p:txBody>
          <a:bodyPr/>
          <a:p/>
        </p:txBody>
      </p:sp>
      <p:sp>
        <p:nvSpPr>
          <p:cNvPr id="5" name="Text 2"/>
          <p:cNvSpPr txBox="1"/>
          <p:nvPr/>
        </p:nvSpPr>
        <p:spPr>
          <a:xfrm>
            <a:off x="640080" y="6428232"/>
            <a:ext cx="7132320" cy="228600"/>
          </a:xfrm>
          <a:prstGeom prst="rect">
            <a:avLst/>
          </a:prstGeom>
          <a:noFill/>
          <a:ln/>
        </p:spPr>
        <p:txBody>
          <a:bodyPr wrap="square" lIns="0" tIns="0" rIns="0" bIns="0" rtlCol="0" anchor="ctr"/>
          <a:lstStyle/>
          <a:p>
            <a:pPr indent="0" marL="0">
              <a:buNone/>
            </a:pPr>
            <a:r>
              <a:rPr lang="en-US" sz="850" spc="300" kern="0" dirty="0">
                <a:solidFill>
                  <a:srgbClr val="A9AFB8"/>
                </a:solidFill>
                <a:latin typeface="Consolas" pitchFamily="34" charset="0"/>
                <a:ea typeface="Consolas" pitchFamily="34" charset="-122"/>
                <a:cs typeface="Consolas" pitchFamily="34" charset="-120"/>
              </a:rPr>
              <a:t>BRANDING SOLUTIONS  |  PROMOTIONAL STANDS  |  BANNERS  |  SIGNAGE</a:t>
            </a:r>
            <a:endParaRPr lang="en-US" sz="850" dirty="0"/>
          </a:p>
        </p:txBody>
      </p:sp>
      <p:sp>
        <p:nvSpPr>
          <p:cNvPr id="6" name="Text 3"/>
          <p:cNvSpPr txBox="1"/>
          <p:nvPr/>
        </p:nvSpPr>
        <p:spPr>
          <a:xfrm>
            <a:off x="7891272" y="6428232"/>
            <a:ext cx="3657600" cy="228600"/>
          </a:xfrm>
          <a:prstGeom prst="rect">
            <a:avLst/>
          </a:prstGeom>
          <a:noFill/>
          <a:ln/>
        </p:spPr>
        <p:txBody>
          <a:bodyPr wrap="square" lIns="0" tIns="0" rIns="0" bIns="0" rtlCol="0" anchor="ctr"/>
          <a:lstStyle/>
          <a:p>
            <a:pPr algn="r" indent="0" marL="0">
              <a:buNone/>
            </a:pPr>
            <a:r>
              <a:rPr lang="en-US" sz="850" spc="300" kern="0" dirty="0">
                <a:solidFill>
                  <a:srgbClr val="A9AFB8"/>
                </a:solidFill>
                <a:latin typeface="Consolas" pitchFamily="34" charset="0"/>
                <a:ea typeface="Consolas" pitchFamily="34" charset="-122"/>
                <a:cs typeface="Consolas" pitchFamily="34" charset="-120"/>
              </a:rPr>
              <a:t>SILVERLINEAD.COM</a:t>
            </a:r>
            <a:endParaRPr lang="en-US" sz="850" dirty="0"/>
          </a:p>
        </p:txBody>
      </p:sp>
      <p:sp>
        <p:nvSpPr>
          <p:cNvPr id="7" name="Shape 4"/>
          <p:cNvSpPr/>
          <p:nvPr/>
        </p:nvSpPr>
        <p:spPr>
          <a:xfrm rot="2700000">
            <a:off x="658368" y="1298448"/>
            <a:ext cx="109728" cy="109728"/>
          </a:xfrm>
          <a:prstGeom prst="rect">
            <a:avLst/>
          </a:prstGeom>
          <a:solidFill>
            <a:srgbClr val="A9AFB8"/>
          </a:solidFill>
          <a:ln w="12700">
            <a:solidFill>
              <a:srgbClr val="A9AFB8"/>
            </a:solidFill>
            <a:prstDash val="solid"/>
          </a:ln>
        </p:spPr>
        <p:txBody>
          <a:bodyPr/>
          <a:p/>
        </p:txBody>
      </p:sp>
      <p:sp>
        <p:nvSpPr>
          <p:cNvPr id="8" name="Text 5"/>
          <p:cNvSpPr txBox="1"/>
          <p:nvPr/>
        </p:nvSpPr>
        <p:spPr>
          <a:xfrm>
            <a:off x="932688" y="1234440"/>
            <a:ext cx="7315200" cy="237744"/>
          </a:xfrm>
          <a:prstGeom prst="rect">
            <a:avLst/>
          </a:prstGeom>
          <a:noFill/>
          <a:ln/>
        </p:spPr>
        <p:txBody>
          <a:bodyPr wrap="square" lIns="0" tIns="0" rIns="0" bIns="0" rtlCol="0" anchor="ctr"/>
          <a:lstStyle/>
          <a:p>
            <a:pPr indent="0" marL="0">
              <a:buNone/>
            </a:pPr>
            <a:r>
              <a:rPr lang="en-US" sz="1100" spc="500" kern="0" dirty="0">
                <a:solidFill>
                  <a:srgbClr val="A9AFB8"/>
                </a:solidFill>
                <a:latin typeface="Consolas" pitchFamily="34" charset="0"/>
                <a:ea typeface="Consolas" pitchFamily="34" charset="-122"/>
                <a:cs typeface="Consolas" pitchFamily="34" charset="-120"/>
              </a:rPr>
              <a:t>ABOUT US</a:t>
            </a:r>
            <a:endParaRPr lang="en-US" sz="1100" dirty="0"/>
          </a:p>
        </p:txBody>
      </p:sp>
      <p:sp>
        <p:nvSpPr>
          <p:cNvPr id="10" name="Text 7"/>
          <p:cNvSpPr txBox="1"/>
          <p:nvPr/>
        </p:nvSpPr>
        <p:spPr>
          <a:xfrm>
            <a:off x="640080" y="3291840"/>
            <a:ext cx="6035040" cy="1097280"/>
          </a:xfrm>
          <a:prstGeom prst="rect">
            <a:avLst/>
          </a:prstGeom>
          <a:noFill/>
          <a:ln/>
        </p:spPr>
        <p:txBody>
          <a:bodyPr wrap="square" lIns="0" tIns="0" rIns="0" bIns="0" rtlCol="0" anchor="t"/>
          <a:lstStyle/>
          <a:p>
            <a:pPr indent="0" marL="0">
              <a:lnSpc>
                <a:spcPct val="110000"/>
              </a:lnSpc>
              <a:buNone/>
            </a:pPr>
            <a:r>
              <a:rPr lang="en-US" sz="1400" dirty="0">
                <a:solidFill>
                  <a:srgbClr val="B5B6B5"/>
                </a:solidFill>
                <a:latin typeface="Calibri" pitchFamily="34" charset="0"/>
                <a:ea typeface="Calibri" pitchFamily="34" charset="-122"/>
                <a:cs typeface="Calibri" pitchFamily="34" charset="-120"/>
              </a:rPr>
              <a:t>Silverline Advertising LLC is a UAE-based branding solutions company. Our in-house design team, production and global supplier network cover signage, promotional and exhibition stands, banners, branding installations, promotional items and print, so you brief one partner instead of five.</a:t>
            </a:r>
            <a:endParaRPr lang="en-US" sz="1400" dirty="0"/>
          </a:p>
        </p:txBody>
      </p:sp>
      <p:sp>
        <p:nvSpPr>
          <p:cNvPr id="11" name="Text 8"/>
          <p:cNvSpPr txBox="1"/>
          <p:nvPr/>
        </p:nvSpPr>
        <p:spPr>
          <a:xfrm>
            <a:off x="640080" y="4434840"/>
            <a:ext cx="6035040" cy="731520"/>
          </a:xfrm>
          <a:prstGeom prst="rect">
            <a:avLst/>
          </a:prstGeom>
          <a:noFill/>
          <a:ln/>
        </p:spPr>
        <p:txBody>
          <a:bodyPr wrap="square" lIns="0" tIns="0" rIns="0" bIns="0" rtlCol="0" anchor="t"/>
          <a:lstStyle/>
          <a:p>
            <a:pPr indent="0" marL="0">
              <a:lnSpc>
                <a:spcPct val="110000"/>
              </a:lnSpc>
              <a:buNone/>
            </a:pPr>
            <a:r>
              <a:rPr lang="en-US" sz="1400" dirty="0">
                <a:solidFill>
                  <a:srgbClr val="B5B6B5"/>
                </a:solidFill>
                <a:latin typeface="Calibri" pitchFamily="34" charset="0"/>
                <a:ea typeface="Calibri" pitchFamily="34" charset="-122"/>
                <a:cs typeface="Calibri" pitchFamily="34" charset="-120"/>
              </a:rPr>
              <a:t>We turn your brand vision into tangible, high-impact presence that people see, touch and remember, delivered to the right place at the right time.</a:t>
            </a:r>
            <a:endParaRPr lang="en-US" sz="1400" dirty="0"/>
          </a:p>
        </p:txBody>
      </p:sp>
      <p:sp>
        <p:nvSpPr>
          <p:cNvPr id="12" name="Shape 9"/>
          <p:cNvSpPr/>
          <p:nvPr/>
        </p:nvSpPr>
        <p:spPr>
          <a:xfrm>
            <a:off x="640080" y="5532120"/>
            <a:ext cx="1463040" cy="402336"/>
          </a:xfrm>
          <a:prstGeom prst="roundRect">
            <a:avLst>
              <a:gd name="adj" fmla="val 50000"/>
            </a:avLst>
          </a:prstGeom>
          <a:solidFill>
            <a:srgbClr val="2C2D32">
              <a:alpha val="0"/>
            </a:srgbClr>
          </a:solidFill>
          <a:ln w="9525">
            <a:solidFill>
              <a:srgbClr val="A9AFB8"/>
            </a:solidFill>
            <a:prstDash val="solid"/>
          </a:ln>
        </p:spPr>
        <p:txBody>
          <a:bodyPr/>
          <a:p/>
        </p:txBody>
      </p:sp>
      <p:sp>
        <p:nvSpPr>
          <p:cNvPr id="13" name="Text 10"/>
          <p:cNvSpPr txBox="1"/>
          <p:nvPr/>
        </p:nvSpPr>
        <p:spPr>
          <a:xfrm>
            <a:off x="640080" y="5532120"/>
            <a:ext cx="1463040" cy="402336"/>
          </a:xfrm>
          <a:prstGeom prst="rect">
            <a:avLst/>
          </a:prstGeom>
          <a:noFill/>
          <a:ln/>
        </p:spPr>
        <p:txBody>
          <a:bodyPr wrap="square" lIns="0" tIns="0" rIns="0" bIns="0" rtlCol="0" anchor="ctr"/>
          <a:lstStyle/>
          <a:p>
            <a:pPr algn="ctr" indent="0" marL="0">
              <a:buNone/>
            </a:pPr>
            <a:r>
              <a:rPr lang="en-US" sz="900" spc="200" kern="0" dirty="0">
                <a:solidFill>
                  <a:srgbClr val="F4F4F2"/>
                </a:solidFill>
                <a:latin typeface="Consolas" pitchFamily="34" charset="0"/>
                <a:ea typeface="Consolas" pitchFamily="34" charset="-122"/>
                <a:cs typeface="Consolas" pitchFamily="34" charset="-120"/>
              </a:rPr>
              <a:t>01  VISION</a:t>
            </a:r>
            <a:endParaRPr lang="en-US" sz="900" dirty="0"/>
          </a:p>
        </p:txBody>
      </p:sp>
      <p:sp>
        <p:nvSpPr>
          <p:cNvPr id="14" name="Shape 11"/>
          <p:cNvSpPr/>
          <p:nvPr/>
        </p:nvSpPr>
        <p:spPr>
          <a:xfrm>
            <a:off x="2286000" y="5532120"/>
            <a:ext cx="1463040" cy="402336"/>
          </a:xfrm>
          <a:prstGeom prst="roundRect">
            <a:avLst>
              <a:gd name="adj" fmla="val 50000"/>
            </a:avLst>
          </a:prstGeom>
          <a:solidFill>
            <a:srgbClr val="2C2D32">
              <a:alpha val="0"/>
            </a:srgbClr>
          </a:solidFill>
          <a:ln w="9525">
            <a:solidFill>
              <a:srgbClr val="A9AFB8"/>
            </a:solidFill>
            <a:prstDash val="solid"/>
          </a:ln>
        </p:spPr>
        <p:txBody>
          <a:bodyPr/>
          <a:p/>
        </p:txBody>
      </p:sp>
      <p:sp>
        <p:nvSpPr>
          <p:cNvPr id="15" name="Text 12"/>
          <p:cNvSpPr txBox="1"/>
          <p:nvPr/>
        </p:nvSpPr>
        <p:spPr>
          <a:xfrm>
            <a:off x="2286000" y="5532120"/>
            <a:ext cx="1463040" cy="402336"/>
          </a:xfrm>
          <a:prstGeom prst="rect">
            <a:avLst/>
          </a:prstGeom>
          <a:noFill/>
          <a:ln/>
        </p:spPr>
        <p:txBody>
          <a:bodyPr wrap="square" lIns="0" tIns="0" rIns="0" bIns="0" rtlCol="0" anchor="ctr"/>
          <a:lstStyle/>
          <a:p>
            <a:pPr algn="ctr" indent="0" marL="0">
              <a:buNone/>
            </a:pPr>
            <a:r>
              <a:rPr lang="en-US" sz="900" spc="200" kern="0" dirty="0">
                <a:solidFill>
                  <a:srgbClr val="F4F4F2"/>
                </a:solidFill>
                <a:latin typeface="Consolas" pitchFamily="34" charset="0"/>
                <a:ea typeface="Consolas" pitchFamily="34" charset="-122"/>
                <a:cs typeface="Consolas" pitchFamily="34" charset="-120"/>
              </a:rPr>
              <a:t>02  CRAFT</a:t>
            </a:r>
            <a:endParaRPr lang="en-US" sz="900" dirty="0"/>
          </a:p>
        </p:txBody>
      </p:sp>
      <p:sp>
        <p:nvSpPr>
          <p:cNvPr id="16" name="Shape 13"/>
          <p:cNvSpPr/>
          <p:nvPr/>
        </p:nvSpPr>
        <p:spPr>
          <a:xfrm>
            <a:off x="3931920" y="5532120"/>
            <a:ext cx="1463040" cy="402336"/>
          </a:xfrm>
          <a:prstGeom prst="roundRect">
            <a:avLst>
              <a:gd name="adj" fmla="val 50000"/>
            </a:avLst>
          </a:prstGeom>
          <a:solidFill>
            <a:srgbClr val="2C2D32">
              <a:alpha val="0"/>
            </a:srgbClr>
          </a:solidFill>
          <a:ln w="9525">
            <a:solidFill>
              <a:srgbClr val="A9AFB8"/>
            </a:solidFill>
            <a:prstDash val="solid"/>
          </a:ln>
        </p:spPr>
        <p:txBody>
          <a:bodyPr/>
          <a:p/>
        </p:txBody>
      </p:sp>
      <p:sp>
        <p:nvSpPr>
          <p:cNvPr id="17" name="Text 14"/>
          <p:cNvSpPr txBox="1"/>
          <p:nvPr/>
        </p:nvSpPr>
        <p:spPr>
          <a:xfrm>
            <a:off x="3931920" y="5532120"/>
            <a:ext cx="1463040" cy="402336"/>
          </a:xfrm>
          <a:prstGeom prst="rect">
            <a:avLst/>
          </a:prstGeom>
          <a:noFill/>
          <a:ln/>
        </p:spPr>
        <p:txBody>
          <a:bodyPr wrap="square" lIns="0" tIns="0" rIns="0" bIns="0" rtlCol="0" anchor="ctr"/>
          <a:lstStyle/>
          <a:p>
            <a:pPr algn="ctr" indent="0" marL="0">
              <a:buNone/>
            </a:pPr>
            <a:r>
              <a:rPr lang="en-US" sz="900" spc="200" kern="0" dirty="0">
                <a:solidFill>
                  <a:srgbClr val="F4F4F2"/>
                </a:solidFill>
                <a:latin typeface="Consolas" pitchFamily="34" charset="0"/>
                <a:ea typeface="Consolas" pitchFamily="34" charset="-122"/>
                <a:cs typeface="Consolas" pitchFamily="34" charset="-120"/>
              </a:rPr>
              <a:t>03  IMPACT</a:t>
            </a:r>
            <a:endParaRPr lang="en-US" sz="900" dirty="0"/>
          </a:p>
        </p:txBody>
      </p:sp>
      <p:sp>
        <p:nvSpPr>
          <p:cNvPr id="18" name="Shape 15"/>
          <p:cNvSpPr/>
          <p:nvPr/>
        </p:nvSpPr>
        <p:spPr>
          <a:xfrm>
            <a:off x="5577840" y="5532120"/>
            <a:ext cx="1463040" cy="402336"/>
          </a:xfrm>
          <a:prstGeom prst="roundRect">
            <a:avLst>
              <a:gd name="adj" fmla="val 50000"/>
            </a:avLst>
          </a:prstGeom>
          <a:solidFill>
            <a:srgbClr val="2C2D32">
              <a:alpha val="0"/>
            </a:srgbClr>
          </a:solidFill>
          <a:ln w="9525">
            <a:solidFill>
              <a:srgbClr val="A9AFB8"/>
            </a:solidFill>
            <a:prstDash val="solid"/>
          </a:ln>
        </p:spPr>
        <p:txBody>
          <a:bodyPr/>
          <a:p/>
        </p:txBody>
      </p:sp>
      <p:sp>
        <p:nvSpPr>
          <p:cNvPr id="19" name="Text 16"/>
          <p:cNvSpPr txBox="1"/>
          <p:nvPr/>
        </p:nvSpPr>
        <p:spPr>
          <a:xfrm>
            <a:off x="5577840" y="5532120"/>
            <a:ext cx="1463040" cy="402336"/>
          </a:xfrm>
          <a:prstGeom prst="rect">
            <a:avLst/>
          </a:prstGeom>
          <a:noFill/>
          <a:ln/>
        </p:spPr>
        <p:txBody>
          <a:bodyPr wrap="square" lIns="0" tIns="0" rIns="0" bIns="0" rtlCol="0" anchor="ctr"/>
          <a:lstStyle/>
          <a:p>
            <a:pPr algn="ctr" indent="0" marL="0">
              <a:buNone/>
            </a:pPr>
            <a:r>
              <a:rPr lang="en-US" sz="900" spc="200" kern="0" dirty="0">
                <a:solidFill>
                  <a:srgbClr val="F4F4F2"/>
                </a:solidFill>
                <a:latin typeface="Consolas" pitchFamily="34" charset="0"/>
                <a:ea typeface="Consolas" pitchFamily="34" charset="-122"/>
                <a:cs typeface="Consolas" pitchFamily="34" charset="-120"/>
              </a:rPr>
              <a:t>04  PRECISION</a:t>
            </a:r>
            <a:endParaRPr lang="en-US" sz="900" dirty="0"/>
          </a:p>
        </p:txBody>
      </p:sp>
      <p:sp>
        <p:nvSpPr>
          <p:cNvPr id="20" name="Text 6"/>
          <p:cNvSpPr txBox="1"/>
          <p:nvPr/>
        </p:nvSpPr>
        <p:spPr>
          <a:xfrm>
            <a:off x="640080" y="1645920"/>
            <a:ext cx="10881360" cy="731520"/>
          </a:xfrm>
          <a:prstGeom prst="rect">
            <a:avLst/>
          </a:prstGeom>
          <a:noFill/>
          <a:ln/>
        </p:spPr>
        <p:txBody>
          <a:bodyPr wrap="square" lIns="0" tIns="0" rIns="0" bIns="0" rtlCol="0" anchor="t"/>
          <a:lstStyle/>
          <a:p>
            <a:pPr indent="0" marL="0">
              <a:lnSpc>
                <a:spcPct val="95000"/>
              </a:lnSpc>
              <a:buNone/>
            </a:pPr>
            <a:r>
              <a:rPr lang="en-US" sz="3600" dirty="0">
                <a:solidFill>
                  <a:srgbClr val="F4F4F2"/>
                </a:solidFill>
                <a:latin typeface="Arial Black"/>
              </a:rPr>
              <a:t>YOUR VISION REDEFINED</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build/assets/logo.png">    </p:cNvPr>
          <p:cNvPicPr>
            <a:picLocks noChangeAspect="1"/>
          </p:cNvPicPr>
          <p:nvPr/>
        </p:nvPicPr>
        <p:blipFill>
          <a:blip r:embed="rId2"/>
          <a:stretch>
            <a:fillRect/>
          </a:stretch>
        </p:blipFill>
        <p:spPr>
          <a:xfrm>
            <a:off x="640080" y="292608"/>
            <a:ext cx="1484797" cy="457200"/>
          </a:xfrm>
          <a:prstGeom prst="rect">
            <a:avLst/>
          </a:prstGeom>
        </p:spPr>
      </p:pic>
      <p:sp>
        <p:nvSpPr>
          <p:cNvPr id="3" name="Text 0"/>
          <p:cNvSpPr txBox="1"/>
          <p:nvPr/>
        </p:nvSpPr>
        <p:spPr>
          <a:xfrm>
            <a:off x="9720072" y="411480"/>
            <a:ext cx="1828800" cy="274320"/>
          </a:xfrm>
          <a:prstGeom prst="rect">
            <a:avLst/>
          </a:prstGeom>
          <a:noFill/>
          <a:ln/>
        </p:spPr>
        <p:txBody>
          <a:bodyPr wrap="square" lIns="0" tIns="0" rIns="0" bIns="0" rtlCol="0" anchor="ctr"/>
          <a:lstStyle/>
          <a:p>
            <a:pPr algn="r" indent="0" marL="0">
              <a:buNone/>
            </a:pPr>
            <a:r>
              <a:rPr lang="en-US" sz="1000" spc="300" kern="0" dirty="0">
                <a:solidFill>
                  <a:srgbClr val="A9AFB8"/>
                </a:solidFill>
                <a:latin typeface="Consolas" pitchFamily="34" charset="0"/>
                <a:ea typeface="Consolas" pitchFamily="34" charset="-122"/>
                <a:cs typeface="Consolas" pitchFamily="34" charset="-120"/>
              </a:rPr>
              <a:t>03 / 07</a:t>
            </a:r>
            <a:endParaRPr lang="en-US" sz="1000" dirty="0"/>
          </a:p>
        </p:txBody>
      </p:sp>
      <p:sp>
        <p:nvSpPr>
          <p:cNvPr id="4" name="Shape 1"/>
          <p:cNvSpPr/>
          <p:nvPr/>
        </p:nvSpPr>
        <p:spPr>
          <a:xfrm>
            <a:off x="640080" y="6355080"/>
            <a:ext cx="10908792" cy="0"/>
          </a:xfrm>
          <a:prstGeom prst="line">
            <a:avLst/>
          </a:prstGeom>
          <a:noFill/>
          <a:ln w="9525">
            <a:solidFill>
              <a:srgbClr val="4A4C53"/>
            </a:solidFill>
            <a:prstDash val="solid"/>
          </a:ln>
        </p:spPr>
        <p:txBody>
          <a:bodyPr/>
          <a:p/>
        </p:txBody>
      </p:sp>
      <p:sp>
        <p:nvSpPr>
          <p:cNvPr id="5" name="Text 2"/>
          <p:cNvSpPr txBox="1"/>
          <p:nvPr/>
        </p:nvSpPr>
        <p:spPr>
          <a:xfrm>
            <a:off x="640080" y="6428232"/>
            <a:ext cx="7132320" cy="228600"/>
          </a:xfrm>
          <a:prstGeom prst="rect">
            <a:avLst/>
          </a:prstGeom>
          <a:noFill/>
          <a:ln/>
        </p:spPr>
        <p:txBody>
          <a:bodyPr wrap="square" lIns="0" tIns="0" rIns="0" bIns="0" rtlCol="0" anchor="ctr"/>
          <a:lstStyle/>
          <a:p>
            <a:pPr indent="0" marL="0">
              <a:buNone/>
            </a:pPr>
            <a:r>
              <a:rPr lang="en-US" sz="850" spc="300" kern="0" dirty="0">
                <a:solidFill>
                  <a:srgbClr val="A9AFB8"/>
                </a:solidFill>
                <a:latin typeface="Consolas" pitchFamily="34" charset="0"/>
                <a:ea typeface="Consolas" pitchFamily="34" charset="-122"/>
                <a:cs typeface="Consolas" pitchFamily="34" charset="-120"/>
              </a:rPr>
              <a:t>BRANDING SOLUTIONS  |  PROMOTIONAL STANDS  |  BANNERS  |  SIGNAGE</a:t>
            </a:r>
            <a:endParaRPr lang="en-US" sz="850" dirty="0"/>
          </a:p>
        </p:txBody>
      </p:sp>
      <p:sp>
        <p:nvSpPr>
          <p:cNvPr id="6" name="Text 3"/>
          <p:cNvSpPr txBox="1"/>
          <p:nvPr/>
        </p:nvSpPr>
        <p:spPr>
          <a:xfrm>
            <a:off x="7891272" y="6428232"/>
            <a:ext cx="3657600" cy="228600"/>
          </a:xfrm>
          <a:prstGeom prst="rect">
            <a:avLst/>
          </a:prstGeom>
          <a:noFill/>
          <a:ln/>
        </p:spPr>
        <p:txBody>
          <a:bodyPr wrap="square" lIns="0" tIns="0" rIns="0" bIns="0" rtlCol="0" anchor="ctr"/>
          <a:lstStyle/>
          <a:p>
            <a:pPr algn="r" indent="0" marL="0">
              <a:buNone/>
            </a:pPr>
            <a:r>
              <a:rPr lang="en-US" sz="850" spc="300" kern="0" dirty="0">
                <a:solidFill>
                  <a:srgbClr val="A9AFB8"/>
                </a:solidFill>
                <a:latin typeface="Consolas" pitchFamily="34" charset="0"/>
                <a:ea typeface="Consolas" pitchFamily="34" charset="-122"/>
                <a:cs typeface="Consolas" pitchFamily="34" charset="-120"/>
              </a:rPr>
              <a:t>SILVERLINEAD.COM</a:t>
            </a:r>
            <a:endParaRPr lang="en-US" sz="850" dirty="0"/>
          </a:p>
        </p:txBody>
      </p:sp>
      <p:sp>
        <p:nvSpPr>
          <p:cNvPr id="7" name="Shape 4"/>
          <p:cNvSpPr/>
          <p:nvPr/>
        </p:nvSpPr>
        <p:spPr>
          <a:xfrm rot="2700000">
            <a:off x="658368" y="1252728"/>
            <a:ext cx="109728" cy="109728"/>
          </a:xfrm>
          <a:prstGeom prst="rect">
            <a:avLst/>
          </a:prstGeom>
          <a:solidFill>
            <a:srgbClr val="A9AFB8"/>
          </a:solidFill>
          <a:ln w="12700">
            <a:solidFill>
              <a:srgbClr val="A9AFB8"/>
            </a:solidFill>
            <a:prstDash val="solid"/>
          </a:ln>
        </p:spPr>
        <p:txBody>
          <a:bodyPr/>
          <a:p/>
        </p:txBody>
      </p:sp>
      <p:sp>
        <p:nvSpPr>
          <p:cNvPr id="8" name="Text 5"/>
          <p:cNvSpPr txBox="1"/>
          <p:nvPr/>
        </p:nvSpPr>
        <p:spPr>
          <a:xfrm>
            <a:off x="932688" y="1188720"/>
            <a:ext cx="7315200" cy="237744"/>
          </a:xfrm>
          <a:prstGeom prst="rect">
            <a:avLst/>
          </a:prstGeom>
          <a:noFill/>
          <a:ln/>
        </p:spPr>
        <p:txBody>
          <a:bodyPr wrap="square" lIns="0" tIns="0" rIns="0" bIns="0" rtlCol="0" anchor="ctr"/>
          <a:lstStyle/>
          <a:p>
            <a:pPr indent="0" marL="0">
              <a:buNone/>
            </a:pPr>
            <a:r>
              <a:rPr sz="1100">
                <a:solidFill>
                  <a:srgbClr val="A9AFB8"/>
                </a:solidFill>
                <a:latin typeface="Consolas"/>
              </a:rPr>
              <a:t>MAKE YOUR BRAND UNMISSABLE</a:t>
            </a:r>
            <a:endParaRPr lang="en-US" sz="1100" dirty="0"/>
          </a:p>
        </p:txBody>
      </p:sp>
      <p:sp>
        <p:nvSpPr>
          <p:cNvPr id="9" name="Text 6"/>
          <p:cNvSpPr txBox="1"/>
          <p:nvPr/>
        </p:nvSpPr>
        <p:spPr>
          <a:xfrm>
            <a:off x="640080" y="1554480"/>
            <a:ext cx="10881360" cy="731520"/>
          </a:xfrm>
          <a:prstGeom prst="rect">
            <a:avLst/>
          </a:prstGeom>
          <a:noFill/>
          <a:ln/>
        </p:spPr>
        <p:txBody>
          <a:bodyPr wrap="square" lIns="0" tIns="0" rIns="0" bIns="0" rtlCol="0" anchor="t"/>
          <a:lstStyle/>
          <a:p>
            <a:pPr indent="0" marL="0">
              <a:lnSpc>
                <a:spcPct val="95000"/>
              </a:lnSpc>
              <a:buNone/>
            </a:pPr>
            <a:r>
              <a:rPr sz="3600">
                <a:solidFill>
                  <a:srgbClr val="F4F4F2"/>
                </a:solidFill>
                <a:latin typeface="Arial Black"/>
              </a:rPr>
              <a:t>BRANDING SOLUTIONS</a:t>
            </a:r>
            <a:endParaRPr lang="en-US" sz="3600" dirty="0"/>
          </a:p>
        </p:txBody>
      </p:sp>
      <p:sp>
        <p:nvSpPr>
          <p:cNvPr id="10" name="Rounded Rectangle 9"/>
          <p:cNvSpPr/>
          <p:nvPr/>
        </p:nvSpPr>
        <p:spPr>
          <a:xfrm>
            <a:off x="868680" y="2450592"/>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Signage</a:t>
            </a:r>
          </a:p>
          <a:p>
            <a:pPr algn="l" marL="0" indent="0">
              <a:lnSpc>
                <a:spcPct val="105000"/>
              </a:lnSpc>
              <a:buNone/>
            </a:pPr>
            <a:r>
              <a:rPr lang="en-US" sz="1050" dirty="0">
                <a:solidFill>
                  <a:srgbClr val="B5B6B5"/>
                </a:solidFill>
                <a:latin typeface="Calibri"/>
                <a:ea typeface="Calibri"/>
                <a:cs typeface="Calibri"/>
              </a:rPr>
              <a:t>Directional, informational and brand signage that communicates clearly and complements your space.</a:t>
            </a:r>
          </a:p>
        </p:txBody>
      </p:sp>
      <p:sp>
        <p:nvSpPr>
          <p:cNvPr id="11" name="Rounded Rectangle 10"/>
          <p:cNvSpPr/>
          <p:nvPr/>
        </p:nvSpPr>
        <p:spPr>
          <a:xfrm>
            <a:off x="3611880" y="2450592"/>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Promotional Stands</a:t>
            </a:r>
          </a:p>
          <a:p>
            <a:pPr algn="l" marL="0" indent="0">
              <a:lnSpc>
                <a:spcPct val="105000"/>
              </a:lnSpc>
              <a:buNone/>
            </a:pPr>
            <a:r>
              <a:rPr lang="en-US" sz="1050" dirty="0">
                <a:solidFill>
                  <a:srgbClr val="B5B6B5"/>
                </a:solidFill>
                <a:latin typeface="Calibri"/>
                <a:ea typeface="Calibri"/>
                <a:cs typeface="Calibri"/>
              </a:rPr>
              <a:t>Eye-catching stands designed to stop foot traffic and drive engagement at events, expos and activations.</a:t>
            </a:r>
          </a:p>
        </p:txBody>
      </p:sp>
      <p:sp>
        <p:nvSpPr>
          <p:cNvPr id="12" name="Rounded Rectangle 11"/>
          <p:cNvSpPr/>
          <p:nvPr/>
        </p:nvSpPr>
        <p:spPr>
          <a:xfrm>
            <a:off x="6355080" y="2450592"/>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Exhibition Displays</a:t>
            </a:r>
          </a:p>
          <a:p>
            <a:pPr algn="l" marL="0" indent="0">
              <a:lnSpc>
                <a:spcPct val="105000"/>
              </a:lnSpc>
              <a:buNone/>
            </a:pPr>
            <a:r>
              <a:rPr lang="en-US" sz="1050" dirty="0">
                <a:solidFill>
                  <a:srgbClr val="B5B6B5"/>
                </a:solidFill>
                <a:latin typeface="Calibri"/>
                <a:ea typeface="Calibri"/>
                <a:cs typeface="Calibri"/>
              </a:rPr>
              <a:t>Complete booth systems and bespoke installations that showcase your brand at trade shows and exhibitions.</a:t>
            </a:r>
          </a:p>
        </p:txBody>
      </p:sp>
      <p:sp>
        <p:nvSpPr>
          <p:cNvPr id="13" name="Rounded Rectangle 12"/>
          <p:cNvSpPr/>
          <p:nvPr/>
        </p:nvSpPr>
        <p:spPr>
          <a:xfrm>
            <a:off x="9098280" y="2450592"/>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Branding Installations</a:t>
            </a:r>
          </a:p>
          <a:p>
            <a:pPr algn="l" marL="0" indent="0">
              <a:lnSpc>
                <a:spcPct val="105000"/>
              </a:lnSpc>
              <a:buNone/>
            </a:pPr>
            <a:r>
              <a:rPr lang="en-US" sz="1050" dirty="0">
                <a:solidFill>
                  <a:srgbClr val="B5B6B5"/>
                </a:solidFill>
                <a:latin typeface="Calibri"/>
                <a:ea typeface="Calibri"/>
                <a:cs typeface="Calibri"/>
              </a:rPr>
              <a:t>Custom environmental branding that transforms interiors and exteriors into brand experiences.</a:t>
            </a:r>
          </a:p>
        </p:txBody>
      </p:sp>
      <p:sp>
        <p:nvSpPr>
          <p:cNvPr id="14" name="Rounded Rectangle 13"/>
          <p:cNvSpPr/>
          <p:nvPr/>
        </p:nvSpPr>
        <p:spPr>
          <a:xfrm>
            <a:off x="868680" y="4315968"/>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Retail Displays</a:t>
            </a:r>
          </a:p>
          <a:p>
            <a:pPr algn="l" marL="0" indent="0">
              <a:lnSpc>
                <a:spcPct val="105000"/>
              </a:lnSpc>
              <a:buNone/>
            </a:pPr>
            <a:r>
              <a:rPr lang="en-US" sz="1050" dirty="0">
                <a:solidFill>
                  <a:srgbClr val="B5B6B5"/>
                </a:solidFill>
                <a:latin typeface="Calibri"/>
                <a:ea typeface="Calibri"/>
                <a:cs typeface="Calibri"/>
              </a:rPr>
              <a:t>Point-of-sale fixtures and product displays that enhance the shopping experience and drive sales.</a:t>
            </a:r>
          </a:p>
        </p:txBody>
      </p:sp>
      <p:sp>
        <p:nvSpPr>
          <p:cNvPr id="15" name="Rounded Rectangle 14"/>
          <p:cNvSpPr/>
          <p:nvPr/>
        </p:nvSpPr>
        <p:spPr>
          <a:xfrm>
            <a:off x="3611880" y="4315968"/>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Promotions &amp; Gifts</a:t>
            </a:r>
          </a:p>
          <a:p>
            <a:pPr algn="l" marL="0" indent="0">
              <a:lnSpc>
                <a:spcPct val="105000"/>
              </a:lnSpc>
              <a:buNone/>
            </a:pPr>
            <a:r>
              <a:rPr lang="en-US" sz="1050" dirty="0">
                <a:solidFill>
                  <a:srgbClr val="B5B6B5"/>
                </a:solidFill>
                <a:latin typeface="Calibri"/>
                <a:ea typeface="Calibri"/>
                <a:cs typeface="Calibri"/>
              </a:rPr>
              <a:t>Branded merchandise, promotional items and gifts that extend your brand presence beyond the display.</a:t>
            </a:r>
          </a:p>
        </p:txBody>
      </p:sp>
      <p:sp>
        <p:nvSpPr>
          <p:cNvPr id="16" name="Rounded Rectangle 15"/>
          <p:cNvSpPr/>
          <p:nvPr/>
        </p:nvSpPr>
        <p:spPr>
          <a:xfrm>
            <a:off x="6355080" y="4315968"/>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Design &amp; Print</a:t>
            </a:r>
          </a:p>
          <a:p>
            <a:pPr algn="l" marL="0" indent="0">
              <a:lnSpc>
                <a:spcPct val="105000"/>
              </a:lnSpc>
              <a:buNone/>
            </a:pPr>
            <a:r>
              <a:rPr lang="en-US" sz="1050" dirty="0">
                <a:solidFill>
                  <a:srgbClr val="B5B6B5"/>
                </a:solidFill>
                <a:latin typeface="Calibri"/>
                <a:ea typeface="Calibri"/>
                <a:cs typeface="Calibri"/>
              </a:rPr>
              <a:t>End-to-end design and large-format printing services for all your branding and promotional needs.</a:t>
            </a:r>
          </a:p>
        </p:txBody>
      </p:sp>
      <p:pic>
        <p:nvPicPr>
          <p:cNvPr id="18" name="Picture 17" descr="icon1.png"/>
          <p:cNvPicPr>
            <a:picLocks noChangeAspect="1"/>
          </p:cNvPicPr>
          <p:nvPr/>
        </p:nvPicPr>
        <p:blipFill>
          <a:blip r:embed="rId10"/>
          <a:stretch>
            <a:fillRect/>
          </a:stretch>
        </p:blipFill>
        <p:spPr>
          <a:xfrm>
            <a:off x="5440680" y="2569464"/>
            <a:ext cx="393192" cy="393192"/>
          </a:xfrm>
          <a:prstGeom prst="rect">
            <a:avLst/>
          </a:prstGeom>
        </p:spPr>
      </p:pic>
      <p:pic>
        <p:nvPicPr>
          <p:cNvPr id="19" name="Picture 18" descr="icon2.png"/>
          <p:cNvPicPr>
            <a:picLocks noChangeAspect="1"/>
          </p:cNvPicPr>
          <p:nvPr/>
        </p:nvPicPr>
        <p:blipFill>
          <a:blip r:embed="rId11"/>
          <a:stretch>
            <a:fillRect/>
          </a:stretch>
        </p:blipFill>
        <p:spPr>
          <a:xfrm>
            <a:off x="8183879" y="2569464"/>
            <a:ext cx="393192" cy="393192"/>
          </a:xfrm>
          <a:prstGeom prst="rect">
            <a:avLst/>
          </a:prstGeom>
        </p:spPr>
      </p:pic>
      <p:pic>
        <p:nvPicPr>
          <p:cNvPr id="20" name="Picture 19" descr="icon3.png"/>
          <p:cNvPicPr>
            <a:picLocks noChangeAspect="1"/>
          </p:cNvPicPr>
          <p:nvPr/>
        </p:nvPicPr>
        <p:blipFill>
          <a:blip r:embed="rId12"/>
          <a:stretch>
            <a:fillRect/>
          </a:stretch>
        </p:blipFill>
        <p:spPr>
          <a:xfrm>
            <a:off x="2697480" y="2569464"/>
            <a:ext cx="393192" cy="393192"/>
          </a:xfrm>
          <a:prstGeom prst="rect">
            <a:avLst/>
          </a:prstGeom>
        </p:spPr>
      </p:pic>
      <p:pic>
        <p:nvPicPr>
          <p:cNvPr id="22" name="Picture 21" descr="icon5.png"/>
          <p:cNvPicPr>
            <a:picLocks noChangeAspect="1"/>
          </p:cNvPicPr>
          <p:nvPr/>
        </p:nvPicPr>
        <p:blipFill>
          <a:blip r:embed="rId14"/>
          <a:stretch>
            <a:fillRect/>
          </a:stretch>
        </p:blipFill>
        <p:spPr>
          <a:xfrm>
            <a:off x="2697480" y="4434840"/>
            <a:ext cx="393192" cy="393192"/>
          </a:xfrm>
          <a:prstGeom prst="rect">
            <a:avLst/>
          </a:prstGeom>
        </p:spPr>
      </p:pic>
      <p:pic>
        <p:nvPicPr>
          <p:cNvPr id="23" name="Picture 22" descr="icon6.png"/>
          <p:cNvPicPr>
            <a:picLocks noChangeAspect="1"/>
          </p:cNvPicPr>
          <p:nvPr/>
        </p:nvPicPr>
        <p:blipFill>
          <a:blip r:embed="rId15"/>
          <a:stretch>
            <a:fillRect/>
          </a:stretch>
        </p:blipFill>
        <p:spPr>
          <a:xfrm>
            <a:off x="5440680" y="4434840"/>
            <a:ext cx="393192" cy="393192"/>
          </a:xfrm>
          <a:prstGeom prst="rect">
            <a:avLst/>
          </a:prstGeom>
        </p:spPr>
      </p:pic>
      <p:pic>
        <p:nvPicPr>
          <p:cNvPr id="24" name="Picture 23" descr="icon7.png"/>
          <p:cNvPicPr>
            <a:picLocks noChangeAspect="1"/>
          </p:cNvPicPr>
          <p:nvPr/>
        </p:nvPicPr>
        <p:blipFill>
          <a:blip r:embed="rId16"/>
          <a:stretch>
            <a:fillRect/>
          </a:stretch>
        </p:blipFill>
        <p:spPr>
          <a:xfrm>
            <a:off x="10927080" y="2569464"/>
            <a:ext cx="393192" cy="393192"/>
          </a:xfrm>
          <a:prstGeom prst="rect">
            <a:avLst/>
          </a:prstGeom>
        </p:spPr>
      </p:pic>
      <p:pic>
        <p:nvPicPr>
          <p:cNvPr id="25" name="Picture 24" descr="icon8.png"/>
          <p:cNvPicPr>
            <a:picLocks noChangeAspect="1"/>
          </p:cNvPicPr>
          <p:nvPr/>
        </p:nvPicPr>
        <p:blipFill>
          <a:blip r:embed="rId17"/>
          <a:stretch>
            <a:fillRect/>
          </a:stretch>
        </p:blipFill>
        <p:spPr>
          <a:xfrm>
            <a:off x="8183879" y="4434840"/>
            <a:ext cx="393192" cy="393192"/>
          </a:xfrm>
          <a:prstGeom prst="rect">
            <a:avLst/>
          </a:prstGeom>
        </p:spPr>
      </p:pic>
      <p:sp>
        <p:nvSpPr>
          <p:cNvPr id="26" name="TextBox 25"/>
          <p:cNvSpPr txBox="1"/>
          <p:nvPr/>
        </p:nvSpPr>
        <p:spPr>
          <a:xfrm>
            <a:off x="978407" y="2560320"/>
            <a:ext cx="530352" cy="347472"/>
          </a:xfrm>
          <a:prstGeom prst="rect">
            <a:avLst/>
          </a:prstGeom>
          <a:noFill/>
        </p:spPr>
        <p:txBody>
          <a:bodyPr wrap="none">
            <a:spAutoFit/>
          </a:bodyPr>
          <a:lstStyle/>
          <a:p>
            <a:pPr algn="l"/>
            <a:r>
              <a:rPr sz="1700" b="1">
                <a:solidFill>
                  <a:srgbClr val="9A9DA4"/>
                </a:solidFill>
                <a:latin typeface="JetBrains Mono"/>
              </a:rPr>
              <a:t>/01</a:t>
            </a:r>
          </a:p>
        </p:txBody>
      </p:sp>
      <p:sp>
        <p:nvSpPr>
          <p:cNvPr id="27" name="TextBox 26"/>
          <p:cNvSpPr txBox="1"/>
          <p:nvPr/>
        </p:nvSpPr>
        <p:spPr>
          <a:xfrm>
            <a:off x="3721608" y="2560320"/>
            <a:ext cx="530352" cy="347472"/>
          </a:xfrm>
          <a:prstGeom prst="rect">
            <a:avLst/>
          </a:prstGeom>
          <a:noFill/>
        </p:spPr>
        <p:txBody>
          <a:bodyPr wrap="none">
            <a:spAutoFit/>
          </a:bodyPr>
          <a:lstStyle/>
          <a:p>
            <a:pPr algn="l"/>
            <a:r>
              <a:rPr sz="1700" b="1">
                <a:solidFill>
                  <a:srgbClr val="9A9DA4"/>
                </a:solidFill>
                <a:latin typeface="JetBrains Mono"/>
              </a:rPr>
              <a:t>/02</a:t>
            </a:r>
          </a:p>
        </p:txBody>
      </p:sp>
      <p:sp>
        <p:nvSpPr>
          <p:cNvPr id="28" name="TextBox 27"/>
          <p:cNvSpPr txBox="1"/>
          <p:nvPr/>
        </p:nvSpPr>
        <p:spPr>
          <a:xfrm>
            <a:off x="6464808" y="2560320"/>
            <a:ext cx="530352" cy="347472"/>
          </a:xfrm>
          <a:prstGeom prst="rect">
            <a:avLst/>
          </a:prstGeom>
          <a:noFill/>
        </p:spPr>
        <p:txBody>
          <a:bodyPr wrap="none">
            <a:spAutoFit/>
          </a:bodyPr>
          <a:lstStyle/>
          <a:p>
            <a:pPr algn="l"/>
            <a:r>
              <a:rPr sz="1700" b="1">
                <a:solidFill>
                  <a:srgbClr val="9A9DA4"/>
                </a:solidFill>
                <a:latin typeface="JetBrains Mono"/>
              </a:rPr>
              <a:t>/03</a:t>
            </a:r>
          </a:p>
        </p:txBody>
      </p:sp>
      <p:sp>
        <p:nvSpPr>
          <p:cNvPr id="29" name="TextBox 28"/>
          <p:cNvSpPr txBox="1"/>
          <p:nvPr/>
        </p:nvSpPr>
        <p:spPr>
          <a:xfrm>
            <a:off x="9208007" y="2560320"/>
            <a:ext cx="530352" cy="347472"/>
          </a:xfrm>
          <a:prstGeom prst="rect">
            <a:avLst/>
          </a:prstGeom>
          <a:noFill/>
        </p:spPr>
        <p:txBody>
          <a:bodyPr wrap="none">
            <a:spAutoFit/>
          </a:bodyPr>
          <a:lstStyle/>
          <a:p>
            <a:pPr algn="l"/>
            <a:r>
              <a:rPr sz="1700" b="1">
                <a:solidFill>
                  <a:srgbClr val="9A9DA4"/>
                </a:solidFill>
                <a:latin typeface="JetBrains Mono"/>
              </a:rPr>
              <a:t>/04</a:t>
            </a:r>
          </a:p>
        </p:txBody>
      </p:sp>
      <p:sp>
        <p:nvSpPr>
          <p:cNvPr id="30" name="TextBox 29"/>
          <p:cNvSpPr txBox="1"/>
          <p:nvPr/>
        </p:nvSpPr>
        <p:spPr>
          <a:xfrm>
            <a:off x="978407" y="4425696"/>
            <a:ext cx="530352" cy="347472"/>
          </a:xfrm>
          <a:prstGeom prst="rect">
            <a:avLst/>
          </a:prstGeom>
          <a:noFill/>
        </p:spPr>
        <p:txBody>
          <a:bodyPr wrap="none">
            <a:spAutoFit/>
          </a:bodyPr>
          <a:lstStyle/>
          <a:p>
            <a:pPr algn="l"/>
            <a:r>
              <a:rPr sz="1700" b="1">
                <a:solidFill>
                  <a:srgbClr val="9A9DA4"/>
                </a:solidFill>
                <a:latin typeface="JetBrains Mono"/>
              </a:rPr>
              <a:t>/05</a:t>
            </a:r>
          </a:p>
        </p:txBody>
      </p:sp>
      <p:sp>
        <p:nvSpPr>
          <p:cNvPr id="31" name="TextBox 30"/>
          <p:cNvSpPr txBox="1"/>
          <p:nvPr/>
        </p:nvSpPr>
        <p:spPr>
          <a:xfrm>
            <a:off x="3721608" y="4425696"/>
            <a:ext cx="530352" cy="347472"/>
          </a:xfrm>
          <a:prstGeom prst="rect">
            <a:avLst/>
          </a:prstGeom>
          <a:noFill/>
        </p:spPr>
        <p:txBody>
          <a:bodyPr wrap="none">
            <a:spAutoFit/>
          </a:bodyPr>
          <a:lstStyle/>
          <a:p>
            <a:pPr algn="l"/>
            <a:r>
              <a:rPr sz="1700" b="1">
                <a:solidFill>
                  <a:srgbClr val="9A9DA4"/>
                </a:solidFill>
                <a:latin typeface="JetBrains Mono"/>
              </a:rPr>
              <a:t>/06</a:t>
            </a:r>
          </a:p>
        </p:txBody>
      </p:sp>
      <p:sp>
        <p:nvSpPr>
          <p:cNvPr id="32" name="TextBox 31"/>
          <p:cNvSpPr txBox="1"/>
          <p:nvPr/>
        </p:nvSpPr>
        <p:spPr>
          <a:xfrm>
            <a:off x="6464808" y="4425696"/>
            <a:ext cx="530352" cy="347472"/>
          </a:xfrm>
          <a:prstGeom prst="rect">
            <a:avLst/>
          </a:prstGeom>
          <a:noFill/>
        </p:spPr>
        <p:txBody>
          <a:bodyPr wrap="none">
            <a:spAutoFit/>
          </a:bodyPr>
          <a:lstStyle/>
          <a:p>
            <a:pPr algn="l"/>
            <a:r>
              <a:rPr sz="1700" b="1">
                <a:solidFill>
                  <a:srgbClr val="9A9DA4"/>
                </a:solidFill>
                <a:latin typeface="JetBrains Mono"/>
              </a:rPr>
              <a:t>/07</a:t>
            </a:r>
          </a:p>
        </p:txBody>
      </p:sp>
      <p:sp>
        <p:nvSpPr>
          <p:cNvPr id="60" name="Rounded Rectangle 59"/>
          <p:cNvSpPr/>
          <p:nvPr/>
        </p:nvSpPr>
        <p:spPr>
          <a:xfrm>
            <a:off x="9098280" y="4315968"/>
            <a:ext cx="2487168" cy="1627632"/>
          </a:xfrm>
          <a:prstGeom prst="roundRect">
            <a:avLst/>
          </a:prstGeom>
          <a:solidFill>
            <a:srgbClr val="303137"/>
          </a:solidFill>
          <a:ln w="8890">
            <a:solidFill>
              <a:srgbClr val="52545B"/>
            </a:solidFill>
          </a:ln>
        </p:spPr>
        <p:style>
          <a:lnRef idx="1">
            <a:schemeClr val="accent1"/>
          </a:lnRef>
          <a:fillRef idx="3">
            <a:schemeClr val="accent1"/>
          </a:fillRef>
          <a:effectRef idx="2">
            <a:schemeClr val="accent1"/>
          </a:effectRef>
          <a:fontRef idx="minor">
            <a:schemeClr val="lt1"/>
          </a:fontRef>
        </p:style>
        <p:txBody>
          <a:bodyPr rtlCol="0" anchor="t" lIns="109727" tIns="493776" rIns="137160" bIns="91440" wrap="square"/>
          <a:lstStyle/>
          <a:p>
            <a:pPr algn="l" marL="0" indent="0">
              <a:spcAft>
                <a:spcPts val="500"/>
              </a:spcAft>
              <a:buNone/>
            </a:pPr>
            <a:r>
              <a:rPr lang="en-US" sz="1400" b="1" dirty="0">
                <a:solidFill>
                  <a:srgbClr val="F4F4F2"/>
                </a:solidFill>
                <a:latin typeface="Calibri"/>
                <a:ea typeface="Calibri"/>
                <a:cs typeface="Calibri"/>
              </a:rPr>
              <a:t>Banners &amp; Large Format</a:t>
            </a:r>
          </a:p>
          <a:p>
            <a:pPr algn="l" marL="0" indent="0">
              <a:lnSpc>
                <a:spcPct val="105000"/>
              </a:lnSpc>
              <a:buNone/>
            </a:pPr>
            <a:r>
              <a:rPr lang="en-US" sz="1050" dirty="0">
                <a:solidFill>
                  <a:srgbClr val="B5B6B5"/>
                </a:solidFill>
                <a:latin typeface="Calibri"/>
                <a:ea typeface="Calibri"/>
                <a:cs typeface="Calibri"/>
              </a:rPr>
              <a:t>High-impact printed graphics and banners tailored to your campaign. Indoor and outdoor options.</a:t>
            </a:r>
          </a:p>
        </p:txBody>
      </p:sp>
      <p:pic>
        <p:nvPicPr>
          <p:cNvPr id="61" name="Picture 20" descr="icon4.png"/>
          <p:cNvPicPr>
            <a:picLocks noChangeAspect="1"/>
          </p:cNvPicPr>
          <p:nvPr/>
        </p:nvPicPr>
        <p:blipFill>
          <a:blip r:embed="rId13"/>
          <a:stretch>
            <a:fillRect/>
          </a:stretch>
        </p:blipFill>
        <p:spPr>
          <a:xfrm>
            <a:off x="10927080" y="4434840"/>
            <a:ext cx="393192" cy="393192"/>
          </a:xfrm>
          <a:prstGeom prst="rect">
            <a:avLst/>
          </a:prstGeom>
        </p:spPr>
      </p:pic>
      <p:sp>
        <p:nvSpPr>
          <p:cNvPr id="62" name="TextBox 32"/>
          <p:cNvSpPr txBox="1"/>
          <p:nvPr/>
        </p:nvSpPr>
        <p:spPr>
          <a:xfrm>
            <a:off x="9208007" y="4425696"/>
            <a:ext cx="530352" cy="347472"/>
          </a:xfrm>
          <a:prstGeom prst="rect">
            <a:avLst/>
          </a:prstGeom>
          <a:noFill/>
        </p:spPr>
        <p:txBody>
          <a:bodyPr wrap="none">
            <a:spAutoFit/>
          </a:bodyPr>
          <a:lstStyle/>
          <a:p>
            <a:pPr algn="l"/>
            <a:r>
              <a:rPr sz="1700" b="1">
                <a:solidFill>
                  <a:srgbClr val="9A9DA4"/>
                </a:solidFill>
                <a:latin typeface="JetBrains Mono"/>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build/assets/logo.png">    </p:cNvPr>
          <p:cNvPicPr>
            <a:picLocks noChangeAspect="1"/>
          </p:cNvPicPr>
          <p:nvPr/>
        </p:nvPicPr>
        <p:blipFill>
          <a:blip r:embed="rId2"/>
          <a:stretch>
            <a:fillRect/>
          </a:stretch>
        </p:blipFill>
        <p:spPr>
          <a:xfrm>
            <a:off x="640080" y="292608"/>
            <a:ext cx="1484797" cy="457200"/>
          </a:xfrm>
          <a:prstGeom prst="rect">
            <a:avLst/>
          </a:prstGeom>
        </p:spPr>
      </p:pic>
      <p:sp>
        <p:nvSpPr>
          <p:cNvPr id="3" name="Text 0"/>
          <p:cNvSpPr txBox="1"/>
          <p:nvPr/>
        </p:nvSpPr>
        <p:spPr>
          <a:xfrm>
            <a:off x="9720072" y="411480"/>
            <a:ext cx="1828800" cy="274320"/>
          </a:xfrm>
          <a:prstGeom prst="rect">
            <a:avLst/>
          </a:prstGeom>
          <a:noFill/>
          <a:ln/>
        </p:spPr>
        <p:txBody>
          <a:bodyPr wrap="square" lIns="0" tIns="0" rIns="0" bIns="0" rtlCol="0" anchor="ctr"/>
          <a:lstStyle/>
          <a:p>
            <a:pPr algn="r" indent="0" marL="0">
              <a:buNone/>
            </a:pPr>
            <a:r>
              <a:rPr lang="en-US" sz="1000" spc="300" kern="0" dirty="0">
                <a:solidFill>
                  <a:srgbClr val="A9AFB8"/>
                </a:solidFill>
                <a:latin typeface="Consolas" pitchFamily="34" charset="0"/>
                <a:ea typeface="Consolas" pitchFamily="34" charset="-122"/>
                <a:cs typeface="Consolas" pitchFamily="34" charset="-120"/>
              </a:rPr>
              <a:t>05 / 07</a:t>
            </a:r>
            <a:endParaRPr lang="en-US" sz="1000" dirty="0"/>
          </a:p>
        </p:txBody>
      </p:sp>
      <p:sp>
        <p:nvSpPr>
          <p:cNvPr id="4" name="Shape 1"/>
          <p:cNvSpPr/>
          <p:nvPr/>
        </p:nvSpPr>
        <p:spPr>
          <a:xfrm>
            <a:off x="640080" y="6355080"/>
            <a:ext cx="10908792" cy="0"/>
          </a:xfrm>
          <a:prstGeom prst="line">
            <a:avLst/>
          </a:prstGeom>
          <a:noFill/>
          <a:ln w="9525">
            <a:solidFill>
              <a:srgbClr val="4A4C53"/>
            </a:solidFill>
            <a:prstDash val="solid"/>
          </a:ln>
        </p:spPr>
      </p:sp>
      <p:sp>
        <p:nvSpPr>
          <p:cNvPr id="5" name="Text 2"/>
          <p:cNvSpPr txBox="1"/>
          <p:nvPr/>
        </p:nvSpPr>
        <p:spPr>
          <a:xfrm>
            <a:off x="640080" y="6428232"/>
            <a:ext cx="7132320" cy="228600"/>
          </a:xfrm>
          <a:prstGeom prst="rect">
            <a:avLst/>
          </a:prstGeom>
          <a:noFill/>
          <a:ln/>
        </p:spPr>
        <p:txBody>
          <a:bodyPr wrap="square" lIns="0" tIns="0" rIns="0" bIns="0" rtlCol="0" anchor="ctr"/>
          <a:lstStyle/>
          <a:p>
            <a:pPr indent="0" marL="0">
              <a:buNone/>
            </a:pPr>
            <a:r>
              <a:rPr lang="en-US" sz="850" spc="300" kern="0" dirty="0">
                <a:solidFill>
                  <a:srgbClr val="A9AFB8"/>
                </a:solidFill>
                <a:latin typeface="Consolas" pitchFamily="34" charset="0"/>
                <a:ea typeface="Consolas" pitchFamily="34" charset="-122"/>
                <a:cs typeface="Consolas" pitchFamily="34" charset="-120"/>
              </a:rPr>
              <a:t>BRANDING SOLUTIONS  |  PROMOTIONAL STANDS  |  BANNERS  |  SIGNAGE</a:t>
            </a:r>
            <a:endParaRPr lang="en-US" sz="850" dirty="0"/>
          </a:p>
        </p:txBody>
      </p:sp>
      <p:sp>
        <p:nvSpPr>
          <p:cNvPr id="6" name="Text 3"/>
          <p:cNvSpPr txBox="1"/>
          <p:nvPr/>
        </p:nvSpPr>
        <p:spPr>
          <a:xfrm>
            <a:off x="7891272" y="6428232"/>
            <a:ext cx="3657600" cy="228600"/>
          </a:xfrm>
          <a:prstGeom prst="rect">
            <a:avLst/>
          </a:prstGeom>
          <a:noFill/>
          <a:ln/>
        </p:spPr>
        <p:txBody>
          <a:bodyPr wrap="square" lIns="0" tIns="0" rIns="0" bIns="0" rtlCol="0" anchor="ctr"/>
          <a:lstStyle/>
          <a:p>
            <a:pPr algn="r" indent="0" marL="0">
              <a:buNone/>
            </a:pPr>
            <a:r>
              <a:rPr lang="en-US" sz="850" spc="300" kern="0" dirty="0">
                <a:solidFill>
                  <a:srgbClr val="A9AFB8"/>
                </a:solidFill>
                <a:latin typeface="Consolas" pitchFamily="34" charset="0"/>
                <a:ea typeface="Consolas" pitchFamily="34" charset="-122"/>
                <a:cs typeface="Consolas" pitchFamily="34" charset="-120"/>
              </a:rPr>
              <a:t>SILVERLINEAD.COM</a:t>
            </a:r>
            <a:endParaRPr lang="en-US" sz="850" dirty="0"/>
          </a:p>
        </p:txBody>
      </p:sp>
      <p:sp>
        <p:nvSpPr>
          <p:cNvPr id="7" name="Shape 4"/>
          <p:cNvSpPr/>
          <p:nvPr/>
        </p:nvSpPr>
        <p:spPr>
          <a:xfrm rot="2700000">
            <a:off x="658368" y="1252728"/>
            <a:ext cx="109728" cy="109728"/>
          </a:xfrm>
          <a:prstGeom prst="rect">
            <a:avLst/>
          </a:prstGeom>
          <a:solidFill>
            <a:srgbClr val="A9AFB8"/>
          </a:solidFill>
          <a:ln w="12700">
            <a:solidFill>
              <a:srgbClr val="A9AFB8"/>
            </a:solidFill>
            <a:prstDash val="solid"/>
          </a:ln>
        </p:spPr>
      </p:sp>
      <p:sp>
        <p:nvSpPr>
          <p:cNvPr id="8" name="Text 5"/>
          <p:cNvSpPr txBox="1"/>
          <p:nvPr/>
        </p:nvSpPr>
        <p:spPr>
          <a:xfrm>
            <a:off x="932688" y="1188720"/>
            <a:ext cx="7315200" cy="237744"/>
          </a:xfrm>
          <a:prstGeom prst="rect">
            <a:avLst/>
          </a:prstGeom>
          <a:noFill/>
          <a:ln/>
        </p:spPr>
        <p:txBody>
          <a:bodyPr wrap="square" lIns="0" tIns="0" rIns="0" bIns="0" rtlCol="0" anchor="ctr"/>
          <a:lstStyle/>
          <a:p>
            <a:pPr indent="0" marL="0">
              <a:buNone/>
            </a:pPr>
            <a:r>
              <a:rPr lang="en-US" sz="1100" spc="500" kern="0" dirty="0">
                <a:solidFill>
                  <a:srgbClr val="A9AFB8"/>
                </a:solidFill>
                <a:latin typeface="Consolas" pitchFamily="34" charset="0"/>
                <a:ea typeface="Consolas" pitchFamily="34" charset="-122"/>
                <a:cs typeface="Consolas" pitchFamily="34" charset="-120"/>
              </a:rPr>
              <a:t>HOW WE WORK</a:t>
            </a:r>
            <a:endParaRPr lang="en-US" sz="1100" dirty="0"/>
          </a:p>
        </p:txBody>
      </p:sp>
      <p:sp>
        <p:nvSpPr>
          <p:cNvPr id="9" name="Text 6"/>
          <p:cNvSpPr txBox="1"/>
          <p:nvPr/>
        </p:nvSpPr>
        <p:spPr>
          <a:xfrm>
            <a:off x="640080" y="1554480"/>
            <a:ext cx="10881360" cy="1280160"/>
          </a:xfrm>
          <a:prstGeom prst="rect">
            <a:avLst/>
          </a:prstGeom>
          <a:noFill/>
          <a:ln/>
        </p:spPr>
        <p:txBody>
          <a:bodyPr wrap="square" lIns="0" tIns="0" rIns="0" bIns="0" rtlCol="0" anchor="t"/>
          <a:lstStyle/>
          <a:p>
            <a:pPr indent="0" marL="0">
              <a:lnSpc>
                <a:spcPct val="95000"/>
              </a:lnSpc>
              <a:buNone/>
            </a:pPr>
            <a:r>
              <a:rPr lang="en-US" sz="3400" dirty="0">
                <a:solidFill>
                  <a:srgbClr val="F4F4F2"/>
                </a:solidFill>
                <a:latin typeface="Arial Black" pitchFamily="34" charset="0"/>
                <a:ea typeface="Arial Black" pitchFamily="34" charset="-122"/>
                <a:cs typeface="Arial Black" pitchFamily="34" charset="-120"/>
              </a:rPr>
              <a:t>FROM BRIEF TO BRAND</a:t>
            </a:r>
            <a:endParaRPr lang="en-US" sz="3400" dirty="0"/>
          </a:p>
          <a:p>
            <a:pPr indent="0" marL="0">
              <a:lnSpc>
                <a:spcPct val="95000"/>
              </a:lnSpc>
              <a:buNone/>
            </a:pPr>
            <a:r>
              <a:rPr lang="en-US" sz="3400" dirty="0">
                <a:solidFill>
                  <a:srgbClr val="F4F4F2"/>
                </a:solidFill>
                <a:latin typeface="Arial Black" pitchFamily="34" charset="0"/>
                <a:ea typeface="Arial Black" pitchFamily="34" charset="-122"/>
                <a:cs typeface="Arial Black" pitchFamily="34" charset="-120"/>
              </a:rPr>
              <a:t>PRESENCE IN FOUR STEPS.</a:t>
            </a:r>
            <a:endParaRPr lang="en-US" sz="3400" dirty="0"/>
          </a:p>
        </p:txBody>
      </p:sp>
      <p:sp>
        <p:nvSpPr>
          <p:cNvPr id="10" name="Shape 7"/>
          <p:cNvSpPr/>
          <p:nvPr/>
        </p:nvSpPr>
        <p:spPr>
          <a:xfrm>
            <a:off x="640080" y="3291840"/>
            <a:ext cx="2555748" cy="2743200"/>
          </a:xfrm>
          <a:prstGeom prst="roundRect">
            <a:avLst>
              <a:gd name="adj" fmla="val 4293"/>
            </a:avLst>
          </a:prstGeom>
          <a:solidFill>
            <a:srgbClr val="2C2D32"/>
          </a:solidFill>
          <a:ln w="9525">
            <a:solidFill>
              <a:srgbClr val="4A4C53"/>
            </a:solidFill>
            <a:prstDash val="solid"/>
          </a:ln>
        </p:spPr>
      </p:sp>
      <p:sp>
        <p:nvSpPr>
          <p:cNvPr id="11" name="Shape 8"/>
          <p:cNvSpPr/>
          <p:nvPr/>
        </p:nvSpPr>
        <p:spPr>
          <a:xfrm>
            <a:off x="914400" y="3566160"/>
            <a:ext cx="685800" cy="685800"/>
          </a:xfrm>
          <a:prstGeom prst="ellipse">
            <a:avLst/>
          </a:prstGeom>
          <a:solidFill>
            <a:srgbClr val="3A3C42"/>
          </a:solidFill>
          <a:ln w="9525">
            <a:solidFill>
              <a:srgbClr val="4A4C53"/>
            </a:solidFill>
            <a:prstDash val="solid"/>
          </a:ln>
        </p:spPr>
      </p:sp>
      <p:pic>
        <p:nvPicPr>
          <p:cNvPr id="12" name="Image 1" descr="/tmp/build/assets/image-10-1-83.png">    </p:cNvPr>
          <p:cNvPicPr>
            <a:picLocks noChangeAspect="1"/>
          </p:cNvPicPr>
          <p:nvPr/>
        </p:nvPicPr>
        <p:blipFill>
          <a:blip r:embed="rId3"/>
          <a:stretch>
            <a:fillRect/>
          </a:stretch>
        </p:blipFill>
        <p:spPr>
          <a:xfrm>
            <a:off x="1085850" y="3737610"/>
            <a:ext cx="342900" cy="342900"/>
          </a:xfrm>
          <a:prstGeom prst="rect">
            <a:avLst/>
          </a:prstGeom>
        </p:spPr>
      </p:pic>
      <p:sp>
        <p:nvSpPr>
          <p:cNvPr id="13" name="Text 9"/>
          <p:cNvSpPr txBox="1"/>
          <p:nvPr/>
        </p:nvSpPr>
        <p:spPr>
          <a:xfrm>
            <a:off x="914400" y="4480560"/>
            <a:ext cx="2011680" cy="228600"/>
          </a:xfrm>
          <a:prstGeom prst="rect">
            <a:avLst/>
          </a:prstGeom>
          <a:noFill/>
          <a:ln/>
        </p:spPr>
        <p:txBody>
          <a:bodyPr wrap="square" lIns="0" tIns="0" rIns="0" bIns="0" rtlCol="0" anchor="ctr"/>
          <a:lstStyle/>
          <a:p>
            <a:pPr indent="0" marL="0">
              <a:buNone/>
            </a:pPr>
            <a:r>
              <a:rPr lang="en-US" sz="1000" spc="400" kern="0" dirty="0">
                <a:solidFill>
                  <a:srgbClr val="A9AFB8"/>
                </a:solidFill>
                <a:latin typeface="Consolas" pitchFamily="34" charset="0"/>
                <a:ea typeface="Consolas" pitchFamily="34" charset="-122"/>
                <a:cs typeface="Consolas" pitchFamily="34" charset="-120"/>
              </a:rPr>
              <a:t>STEP 1</a:t>
            </a:r>
            <a:endParaRPr lang="en-US" sz="1000" dirty="0"/>
          </a:p>
        </p:txBody>
      </p:sp>
      <p:sp>
        <p:nvSpPr>
          <p:cNvPr id="14" name="Text 10"/>
          <p:cNvSpPr txBox="1"/>
          <p:nvPr/>
        </p:nvSpPr>
        <p:spPr>
          <a:xfrm>
            <a:off x="914400" y="4773168"/>
            <a:ext cx="2103120" cy="320040"/>
          </a:xfrm>
          <a:prstGeom prst="rect">
            <a:avLst/>
          </a:prstGeom>
          <a:noFill/>
          <a:ln/>
        </p:spPr>
        <p:txBody>
          <a:bodyPr wrap="square" lIns="0" tIns="0" rIns="0" bIns="0" rtlCol="0" anchor="ctr"/>
          <a:lstStyle/>
          <a:p>
            <a:pPr indent="0" marL="0">
              <a:buNone/>
            </a:pPr>
            <a:r>
              <a:rPr lang="en-US" sz="1500" dirty="0">
                <a:solidFill>
                  <a:srgbClr val="F4F4F2"/>
                </a:solidFill>
                <a:latin typeface="Arial Black" pitchFamily="34" charset="0"/>
                <a:ea typeface="Arial Black" pitchFamily="34" charset="-122"/>
                <a:cs typeface="Arial Black" pitchFamily="34" charset="-120"/>
              </a:rPr>
              <a:t>BRIEF</a:t>
            </a:r>
            <a:endParaRPr lang="en-US" sz="1500" dirty="0"/>
          </a:p>
        </p:txBody>
      </p:sp>
      <p:sp>
        <p:nvSpPr>
          <p:cNvPr id="15" name="Text 11"/>
          <p:cNvSpPr txBox="1"/>
          <p:nvPr/>
        </p:nvSpPr>
        <p:spPr>
          <a:xfrm>
            <a:off x="914400" y="5212080"/>
            <a:ext cx="2057400" cy="914400"/>
          </a:xfrm>
          <a:prstGeom prst="rect">
            <a:avLst/>
          </a:prstGeom>
          <a:noFill/>
          <a:ln/>
        </p:spPr>
        <p:txBody>
          <a:bodyPr wrap="square" lIns="0" tIns="0" rIns="0" bIns="0" rtlCol="0" anchor="t"/>
          <a:lstStyle/>
          <a:p>
            <a:pPr indent="0" marL="0">
              <a:buNone/>
            </a:pPr>
            <a:r>
              <a:rPr lang="en-US" sz="1200" dirty="0">
                <a:solidFill>
                  <a:srgbClr val="B5B6B5"/>
                </a:solidFill>
                <a:latin typeface="Calibri" pitchFamily="34" charset="0"/>
                <a:ea typeface="Calibri" pitchFamily="34" charset="-122"/>
                <a:cs typeface="Calibri" pitchFamily="34" charset="-120"/>
              </a:rPr>
              <a:t>We listen first: your goals, your space, your timeline and your budget.</a:t>
            </a:r>
            <a:endParaRPr lang="en-US" sz="1200" dirty="0"/>
          </a:p>
        </p:txBody>
      </p:sp>
      <p:sp>
        <p:nvSpPr>
          <p:cNvPr id="16" name="Shape 12"/>
          <p:cNvSpPr/>
          <p:nvPr/>
        </p:nvSpPr>
        <p:spPr>
          <a:xfrm>
            <a:off x="3424428" y="3291840"/>
            <a:ext cx="2555748" cy="2743200"/>
          </a:xfrm>
          <a:prstGeom prst="roundRect">
            <a:avLst>
              <a:gd name="adj" fmla="val 4293"/>
            </a:avLst>
          </a:prstGeom>
          <a:solidFill>
            <a:srgbClr val="2C2D32"/>
          </a:solidFill>
          <a:ln w="9525">
            <a:solidFill>
              <a:srgbClr val="4A4C53"/>
            </a:solidFill>
            <a:prstDash val="solid"/>
          </a:ln>
        </p:spPr>
      </p:sp>
      <p:sp>
        <p:nvSpPr>
          <p:cNvPr id="17" name="Shape 13"/>
          <p:cNvSpPr/>
          <p:nvPr/>
        </p:nvSpPr>
        <p:spPr>
          <a:xfrm>
            <a:off x="3698748" y="3566160"/>
            <a:ext cx="685800" cy="685800"/>
          </a:xfrm>
          <a:prstGeom prst="ellipse">
            <a:avLst/>
          </a:prstGeom>
          <a:solidFill>
            <a:srgbClr val="3A3C42"/>
          </a:solidFill>
          <a:ln w="9525">
            <a:solidFill>
              <a:srgbClr val="4A4C53"/>
            </a:solidFill>
            <a:prstDash val="solid"/>
          </a:ln>
        </p:spPr>
      </p:sp>
      <p:pic>
        <p:nvPicPr>
          <p:cNvPr id="18" name="Image 2" descr="/tmp/build/assets/image-10-3-85.png">    </p:cNvPr>
          <p:cNvPicPr>
            <a:picLocks noChangeAspect="1"/>
          </p:cNvPicPr>
          <p:nvPr/>
        </p:nvPicPr>
        <p:blipFill>
          <a:blip r:embed="rId4"/>
          <a:stretch>
            <a:fillRect/>
          </a:stretch>
        </p:blipFill>
        <p:spPr>
          <a:xfrm>
            <a:off x="3870198" y="3737610"/>
            <a:ext cx="342900" cy="342900"/>
          </a:xfrm>
          <a:prstGeom prst="rect">
            <a:avLst/>
          </a:prstGeom>
        </p:spPr>
      </p:pic>
      <p:sp>
        <p:nvSpPr>
          <p:cNvPr id="19" name="Text 14"/>
          <p:cNvSpPr txBox="1"/>
          <p:nvPr/>
        </p:nvSpPr>
        <p:spPr>
          <a:xfrm>
            <a:off x="3698748" y="4480560"/>
            <a:ext cx="2011680" cy="228600"/>
          </a:xfrm>
          <a:prstGeom prst="rect">
            <a:avLst/>
          </a:prstGeom>
          <a:noFill/>
          <a:ln/>
        </p:spPr>
        <p:txBody>
          <a:bodyPr wrap="square" lIns="0" tIns="0" rIns="0" bIns="0" rtlCol="0" anchor="ctr"/>
          <a:lstStyle/>
          <a:p>
            <a:pPr indent="0" marL="0">
              <a:buNone/>
            </a:pPr>
            <a:r>
              <a:rPr lang="en-US" sz="1000" spc="400" kern="0" dirty="0">
                <a:solidFill>
                  <a:srgbClr val="A9AFB8"/>
                </a:solidFill>
                <a:latin typeface="Consolas" pitchFamily="34" charset="0"/>
                <a:ea typeface="Consolas" pitchFamily="34" charset="-122"/>
                <a:cs typeface="Consolas" pitchFamily="34" charset="-120"/>
              </a:rPr>
              <a:t>STEP 2</a:t>
            </a:r>
            <a:endParaRPr lang="en-US" sz="1000" dirty="0"/>
          </a:p>
        </p:txBody>
      </p:sp>
      <p:sp>
        <p:nvSpPr>
          <p:cNvPr id="20" name="Text 15"/>
          <p:cNvSpPr txBox="1"/>
          <p:nvPr/>
        </p:nvSpPr>
        <p:spPr>
          <a:xfrm>
            <a:off x="3698748" y="4773168"/>
            <a:ext cx="2103120" cy="320040"/>
          </a:xfrm>
          <a:prstGeom prst="rect">
            <a:avLst/>
          </a:prstGeom>
          <a:noFill/>
          <a:ln/>
        </p:spPr>
        <p:txBody>
          <a:bodyPr wrap="square" lIns="0" tIns="0" rIns="0" bIns="0" rtlCol="0" anchor="ctr"/>
          <a:lstStyle/>
          <a:p>
            <a:pPr indent="0" marL="0">
              <a:buNone/>
            </a:pPr>
            <a:r>
              <a:rPr lang="en-US" sz="1500" dirty="0">
                <a:solidFill>
                  <a:srgbClr val="F4F4F2"/>
                </a:solidFill>
                <a:latin typeface="Arial Black" pitchFamily="34" charset="0"/>
                <a:ea typeface="Arial Black" pitchFamily="34" charset="-122"/>
                <a:cs typeface="Arial Black" pitchFamily="34" charset="-120"/>
              </a:rPr>
              <a:t>DESIGN</a:t>
            </a:r>
            <a:endParaRPr lang="en-US" sz="1500" dirty="0"/>
          </a:p>
        </p:txBody>
      </p:sp>
      <p:sp>
        <p:nvSpPr>
          <p:cNvPr id="21" name="Text 16"/>
          <p:cNvSpPr txBox="1"/>
          <p:nvPr/>
        </p:nvSpPr>
        <p:spPr>
          <a:xfrm>
            <a:off x="3698748" y="5212080"/>
            <a:ext cx="2057400" cy="914400"/>
          </a:xfrm>
          <a:prstGeom prst="rect">
            <a:avLst/>
          </a:prstGeom>
          <a:noFill/>
          <a:ln/>
        </p:spPr>
        <p:txBody>
          <a:bodyPr wrap="square" lIns="0" tIns="0" rIns="0" bIns="0" rtlCol="0" anchor="t"/>
          <a:lstStyle/>
          <a:p>
            <a:pPr indent="0" marL="0">
              <a:buNone/>
            </a:pPr>
            <a:r>
              <a:rPr lang="en-US" sz="1200" dirty="0">
                <a:solidFill>
                  <a:srgbClr val="B5B6B5"/>
                </a:solidFill>
                <a:latin typeface="Calibri" pitchFamily="34" charset="0"/>
                <a:ea typeface="Calibri" pitchFamily="34" charset="-122"/>
                <a:cs typeface="Calibri" pitchFamily="34" charset="-120"/>
              </a:rPr>
              <a:t>Our in-house design team turns your vision into visuals you can review and approve.</a:t>
            </a:r>
            <a:endParaRPr lang="en-US" sz="1200" dirty="0"/>
          </a:p>
        </p:txBody>
      </p:sp>
      <p:sp>
        <p:nvSpPr>
          <p:cNvPr id="22" name="Shape 17"/>
          <p:cNvSpPr/>
          <p:nvPr/>
        </p:nvSpPr>
        <p:spPr>
          <a:xfrm>
            <a:off x="6208776" y="3291840"/>
            <a:ext cx="2555748" cy="2743200"/>
          </a:xfrm>
          <a:prstGeom prst="roundRect">
            <a:avLst>
              <a:gd name="adj" fmla="val 4293"/>
            </a:avLst>
          </a:prstGeom>
          <a:solidFill>
            <a:srgbClr val="2C2D32"/>
          </a:solidFill>
          <a:ln w="9525">
            <a:solidFill>
              <a:srgbClr val="4A4C53"/>
            </a:solidFill>
            <a:prstDash val="solid"/>
          </a:ln>
        </p:spPr>
      </p:sp>
      <p:sp>
        <p:nvSpPr>
          <p:cNvPr id="23" name="Shape 18"/>
          <p:cNvSpPr/>
          <p:nvPr/>
        </p:nvSpPr>
        <p:spPr>
          <a:xfrm>
            <a:off x="6483096" y="3566160"/>
            <a:ext cx="685800" cy="685800"/>
          </a:xfrm>
          <a:prstGeom prst="ellipse">
            <a:avLst/>
          </a:prstGeom>
          <a:solidFill>
            <a:srgbClr val="3A3C42"/>
          </a:solidFill>
          <a:ln w="9525">
            <a:solidFill>
              <a:srgbClr val="4A4C53"/>
            </a:solidFill>
            <a:prstDash val="solid"/>
          </a:ln>
        </p:spPr>
      </p:sp>
      <p:pic>
        <p:nvPicPr>
          <p:cNvPr id="24" name="Image 3" descr="/tmp/build/assets/image-10-5-86.png">    </p:cNvPr>
          <p:cNvPicPr>
            <a:picLocks noChangeAspect="1"/>
          </p:cNvPicPr>
          <p:nvPr/>
        </p:nvPicPr>
        <p:blipFill>
          <a:blip r:embed="rId5"/>
          <a:stretch>
            <a:fillRect/>
          </a:stretch>
        </p:blipFill>
        <p:spPr>
          <a:xfrm>
            <a:off x="6654546" y="3737610"/>
            <a:ext cx="342900" cy="342900"/>
          </a:xfrm>
          <a:prstGeom prst="rect">
            <a:avLst/>
          </a:prstGeom>
        </p:spPr>
      </p:pic>
      <p:sp>
        <p:nvSpPr>
          <p:cNvPr id="25" name="Text 19"/>
          <p:cNvSpPr txBox="1"/>
          <p:nvPr/>
        </p:nvSpPr>
        <p:spPr>
          <a:xfrm>
            <a:off x="6483096" y="4480560"/>
            <a:ext cx="2011680" cy="228600"/>
          </a:xfrm>
          <a:prstGeom prst="rect">
            <a:avLst/>
          </a:prstGeom>
          <a:noFill/>
          <a:ln/>
        </p:spPr>
        <p:txBody>
          <a:bodyPr wrap="square" lIns="0" tIns="0" rIns="0" bIns="0" rtlCol="0" anchor="ctr"/>
          <a:lstStyle/>
          <a:p>
            <a:pPr indent="0" marL="0">
              <a:buNone/>
            </a:pPr>
            <a:r>
              <a:rPr lang="en-US" sz="1000" spc="400" kern="0" dirty="0">
                <a:solidFill>
                  <a:srgbClr val="A9AFB8"/>
                </a:solidFill>
                <a:latin typeface="Consolas" pitchFamily="34" charset="0"/>
                <a:ea typeface="Consolas" pitchFamily="34" charset="-122"/>
                <a:cs typeface="Consolas" pitchFamily="34" charset="-120"/>
              </a:rPr>
              <a:t>STEP 3</a:t>
            </a:r>
            <a:endParaRPr lang="en-US" sz="1000" dirty="0"/>
          </a:p>
        </p:txBody>
      </p:sp>
      <p:sp>
        <p:nvSpPr>
          <p:cNvPr id="26" name="Text 20"/>
          <p:cNvSpPr txBox="1"/>
          <p:nvPr/>
        </p:nvSpPr>
        <p:spPr>
          <a:xfrm>
            <a:off x="6483096" y="4773168"/>
            <a:ext cx="2103120" cy="320040"/>
          </a:xfrm>
          <a:prstGeom prst="rect">
            <a:avLst/>
          </a:prstGeom>
          <a:noFill/>
          <a:ln/>
        </p:spPr>
        <p:txBody>
          <a:bodyPr wrap="square" lIns="0" tIns="0" rIns="0" bIns="0" rtlCol="0" anchor="ctr"/>
          <a:lstStyle/>
          <a:p>
            <a:pPr indent="0" marL="0">
              <a:buNone/>
            </a:pPr>
            <a:r>
              <a:rPr lang="en-US" sz="1500" dirty="0">
                <a:solidFill>
                  <a:srgbClr val="F4F4F2"/>
                </a:solidFill>
                <a:latin typeface="Arial Black" pitchFamily="34" charset="0"/>
                <a:ea typeface="Arial Black" pitchFamily="34" charset="-122"/>
                <a:cs typeface="Arial Black" pitchFamily="34" charset="-120"/>
              </a:rPr>
              <a:t>PRODUCE</a:t>
            </a:r>
            <a:endParaRPr lang="en-US" sz="1500" dirty="0"/>
          </a:p>
        </p:txBody>
      </p:sp>
      <p:sp>
        <p:nvSpPr>
          <p:cNvPr id="27" name="Text 21"/>
          <p:cNvSpPr txBox="1"/>
          <p:nvPr/>
        </p:nvSpPr>
        <p:spPr>
          <a:xfrm>
            <a:off x="6483096" y="5212080"/>
            <a:ext cx="2057400" cy="914400"/>
          </a:xfrm>
          <a:prstGeom prst="rect">
            <a:avLst/>
          </a:prstGeom>
          <a:noFill/>
          <a:ln/>
        </p:spPr>
        <p:txBody>
          <a:bodyPr wrap="square" lIns="0" tIns="0" rIns="0" bIns="0" rtlCol="0" anchor="t"/>
          <a:lstStyle/>
          <a:p>
            <a:pPr indent="0" marL="0">
              <a:buNone/>
            </a:pPr>
            <a:r>
              <a:rPr lang="en-US" sz="1200" dirty="0">
                <a:solidFill>
                  <a:srgbClr val="B5B6B5"/>
                </a:solidFill>
                <a:latin typeface="Calibri" pitchFamily="34" charset="0"/>
                <a:ea typeface="Calibri" pitchFamily="34" charset="-122"/>
                <a:cs typeface="Calibri" pitchFamily="34" charset="-120"/>
              </a:rPr>
              <a:t>Produced to the approved design through our production and global supplier network, checked before it ships.</a:t>
            </a:r>
            <a:endParaRPr lang="en-US" sz="1200" dirty="0"/>
          </a:p>
        </p:txBody>
      </p:sp>
      <p:sp>
        <p:nvSpPr>
          <p:cNvPr id="28" name="Shape 22"/>
          <p:cNvSpPr/>
          <p:nvPr/>
        </p:nvSpPr>
        <p:spPr>
          <a:xfrm>
            <a:off x="8993124" y="3291840"/>
            <a:ext cx="2555748" cy="2743200"/>
          </a:xfrm>
          <a:prstGeom prst="roundRect">
            <a:avLst>
              <a:gd name="adj" fmla="val 4293"/>
            </a:avLst>
          </a:prstGeom>
          <a:solidFill>
            <a:srgbClr val="2C2D32"/>
          </a:solidFill>
          <a:ln w="9525">
            <a:solidFill>
              <a:srgbClr val="4A4C53"/>
            </a:solidFill>
            <a:prstDash val="solid"/>
          </a:ln>
        </p:spPr>
      </p:sp>
      <p:sp>
        <p:nvSpPr>
          <p:cNvPr id="29" name="Shape 23"/>
          <p:cNvSpPr/>
          <p:nvPr/>
        </p:nvSpPr>
        <p:spPr>
          <a:xfrm>
            <a:off x="9267444" y="3566160"/>
            <a:ext cx="685800" cy="685800"/>
          </a:xfrm>
          <a:prstGeom prst="ellipse">
            <a:avLst/>
          </a:prstGeom>
          <a:solidFill>
            <a:srgbClr val="3A3C42"/>
          </a:solidFill>
          <a:ln w="9525">
            <a:solidFill>
              <a:srgbClr val="4A4C53"/>
            </a:solidFill>
            <a:prstDash val="solid"/>
          </a:ln>
        </p:spPr>
      </p:sp>
      <p:pic>
        <p:nvPicPr>
          <p:cNvPr id="30" name="Image 4" descr="/tmp/build/assets/image-10-7-87.png">    </p:cNvPr>
          <p:cNvPicPr>
            <a:picLocks noChangeAspect="1"/>
          </p:cNvPicPr>
          <p:nvPr/>
        </p:nvPicPr>
        <p:blipFill>
          <a:blip r:embed="rId6"/>
          <a:stretch>
            <a:fillRect/>
          </a:stretch>
        </p:blipFill>
        <p:spPr>
          <a:xfrm>
            <a:off x="9438894" y="3737610"/>
            <a:ext cx="342900" cy="342900"/>
          </a:xfrm>
          <a:prstGeom prst="rect">
            <a:avLst/>
          </a:prstGeom>
        </p:spPr>
      </p:pic>
      <p:sp>
        <p:nvSpPr>
          <p:cNvPr id="31" name="Text 24"/>
          <p:cNvSpPr txBox="1"/>
          <p:nvPr/>
        </p:nvSpPr>
        <p:spPr>
          <a:xfrm>
            <a:off x="9267444" y="4480560"/>
            <a:ext cx="2011680" cy="228600"/>
          </a:xfrm>
          <a:prstGeom prst="rect">
            <a:avLst/>
          </a:prstGeom>
          <a:noFill/>
          <a:ln/>
        </p:spPr>
        <p:txBody>
          <a:bodyPr wrap="square" lIns="0" tIns="0" rIns="0" bIns="0" rtlCol="0" anchor="ctr"/>
          <a:lstStyle/>
          <a:p>
            <a:pPr indent="0" marL="0">
              <a:buNone/>
            </a:pPr>
            <a:r>
              <a:rPr lang="en-US" sz="1000" spc="400" kern="0" dirty="0">
                <a:solidFill>
                  <a:srgbClr val="A9AFB8"/>
                </a:solidFill>
                <a:latin typeface="Consolas" pitchFamily="34" charset="0"/>
                <a:ea typeface="Consolas" pitchFamily="34" charset="-122"/>
                <a:cs typeface="Consolas" pitchFamily="34" charset="-120"/>
              </a:rPr>
              <a:t>STEP 4</a:t>
            </a:r>
            <a:endParaRPr lang="en-US" sz="1000" dirty="0"/>
          </a:p>
        </p:txBody>
      </p:sp>
      <p:sp>
        <p:nvSpPr>
          <p:cNvPr id="32" name="Text 25"/>
          <p:cNvSpPr txBox="1"/>
          <p:nvPr/>
        </p:nvSpPr>
        <p:spPr>
          <a:xfrm>
            <a:off x="9267444" y="4773168"/>
            <a:ext cx="2103120" cy="320040"/>
          </a:xfrm>
          <a:prstGeom prst="rect">
            <a:avLst/>
          </a:prstGeom>
          <a:noFill/>
          <a:ln/>
        </p:spPr>
        <p:txBody>
          <a:bodyPr wrap="square" lIns="0" tIns="0" rIns="0" bIns="0" rtlCol="0" anchor="ctr"/>
          <a:lstStyle/>
          <a:p>
            <a:pPr indent="0" marL="0">
              <a:buNone/>
            </a:pPr>
            <a:r>
              <a:rPr lang="en-US" sz="1500" dirty="0">
                <a:solidFill>
                  <a:srgbClr val="F4F4F2"/>
                </a:solidFill>
                <a:latin typeface="Arial Black" pitchFamily="34" charset="0"/>
                <a:ea typeface="Arial Black" pitchFamily="34" charset="-122"/>
                <a:cs typeface="Arial Black" pitchFamily="34" charset="-120"/>
              </a:rPr>
              <a:t>DELIVER &amp; INSTALL</a:t>
            </a:r>
            <a:endParaRPr lang="en-US" sz="1500" dirty="0"/>
          </a:p>
        </p:txBody>
      </p:sp>
      <p:sp>
        <p:nvSpPr>
          <p:cNvPr id="33" name="Text 26"/>
          <p:cNvSpPr txBox="1"/>
          <p:nvPr/>
        </p:nvSpPr>
        <p:spPr>
          <a:xfrm>
            <a:off x="9267444" y="5212080"/>
            <a:ext cx="2057400" cy="914400"/>
          </a:xfrm>
          <a:prstGeom prst="rect">
            <a:avLst/>
          </a:prstGeom>
          <a:noFill/>
          <a:ln/>
        </p:spPr>
        <p:txBody>
          <a:bodyPr wrap="square" lIns="0" tIns="0" rIns="0" bIns="0" rtlCol="0" anchor="t"/>
          <a:lstStyle/>
          <a:p>
            <a:pPr indent="0" marL="0">
              <a:buNone/>
            </a:pPr>
            <a:r>
              <a:rPr lang="en-US" sz="1200" dirty="0">
                <a:solidFill>
                  <a:srgbClr val="B5B6B5"/>
                </a:solidFill>
                <a:latin typeface="Calibri" pitchFamily="34" charset="0"/>
                <a:ea typeface="Calibri" pitchFamily="34" charset="-122"/>
                <a:cs typeface="Calibri" pitchFamily="34" charset="-120"/>
              </a:rPr>
              <a:t>Delivered and installed on site through our supply and distribution network.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build/assets/logo.png">    </p:cNvPr>
          <p:cNvPicPr>
            <a:picLocks noChangeAspect="1"/>
          </p:cNvPicPr>
          <p:nvPr/>
        </p:nvPicPr>
        <p:blipFill>
          <a:blip r:embed="rId2"/>
          <a:stretch>
            <a:fillRect/>
          </a:stretch>
        </p:blipFill>
        <p:spPr>
          <a:xfrm>
            <a:off x="640080" y="292608"/>
            <a:ext cx="1484797" cy="457200"/>
          </a:xfrm>
          <a:prstGeom prst="rect">
            <a:avLst/>
          </a:prstGeom>
        </p:spPr>
      </p:pic>
      <p:sp>
        <p:nvSpPr>
          <p:cNvPr id="3" name="Text 0"/>
          <p:cNvSpPr txBox="1"/>
          <p:nvPr/>
        </p:nvSpPr>
        <p:spPr>
          <a:xfrm>
            <a:off x="9720072" y="411480"/>
            <a:ext cx="1828800" cy="274320"/>
          </a:xfrm>
          <a:prstGeom prst="rect">
            <a:avLst/>
          </a:prstGeom>
          <a:noFill/>
          <a:ln/>
        </p:spPr>
        <p:txBody>
          <a:bodyPr wrap="square" lIns="0" tIns="0" rIns="0" bIns="0" rtlCol="0" anchor="ctr"/>
          <a:lstStyle/>
          <a:p>
            <a:pPr algn="r" indent="0" marL="0">
              <a:buNone/>
            </a:pPr>
            <a:r>
              <a:rPr lang="en-US" sz="1000" spc="300" kern="0" dirty="0">
                <a:solidFill>
                  <a:srgbClr val="A9AFB8"/>
                </a:solidFill>
                <a:latin typeface="Consolas" pitchFamily="34" charset="0"/>
                <a:ea typeface="Consolas" pitchFamily="34" charset="-122"/>
                <a:cs typeface="Consolas" pitchFamily="34" charset="-120"/>
              </a:rPr>
              <a:t>06 / 07</a:t>
            </a:r>
            <a:endParaRPr lang="en-US" sz="1000" dirty="0"/>
          </a:p>
        </p:txBody>
      </p:sp>
      <p:sp>
        <p:nvSpPr>
          <p:cNvPr id="4" name="Shape 1"/>
          <p:cNvSpPr/>
          <p:nvPr/>
        </p:nvSpPr>
        <p:spPr>
          <a:xfrm>
            <a:off x="640080" y="6355080"/>
            <a:ext cx="10908792" cy="0"/>
          </a:xfrm>
          <a:prstGeom prst="line">
            <a:avLst/>
          </a:prstGeom>
          <a:noFill/>
          <a:ln w="9525">
            <a:solidFill>
              <a:srgbClr val="4A4C53"/>
            </a:solidFill>
            <a:prstDash val="solid"/>
          </a:ln>
        </p:spPr>
        <p:txBody>
          <a:bodyPr/>
          <a:p/>
        </p:txBody>
      </p:sp>
      <p:sp>
        <p:nvSpPr>
          <p:cNvPr id="5" name="Text 2"/>
          <p:cNvSpPr txBox="1"/>
          <p:nvPr/>
        </p:nvSpPr>
        <p:spPr>
          <a:xfrm>
            <a:off x="640080" y="6428232"/>
            <a:ext cx="7132320" cy="228600"/>
          </a:xfrm>
          <a:prstGeom prst="rect">
            <a:avLst/>
          </a:prstGeom>
          <a:noFill/>
          <a:ln/>
        </p:spPr>
        <p:txBody>
          <a:bodyPr wrap="square" lIns="0" tIns="0" rIns="0" bIns="0" rtlCol="0" anchor="ctr"/>
          <a:lstStyle/>
          <a:p>
            <a:pPr indent="0" marL="0">
              <a:buNone/>
            </a:pPr>
            <a:r>
              <a:rPr lang="en-US" sz="850" spc="300" kern="0" dirty="0">
                <a:solidFill>
                  <a:srgbClr val="A9AFB8"/>
                </a:solidFill>
                <a:latin typeface="Consolas" pitchFamily="34" charset="0"/>
                <a:ea typeface="Consolas" pitchFamily="34" charset="-122"/>
                <a:cs typeface="Consolas" pitchFamily="34" charset="-120"/>
              </a:rPr>
              <a:t>BRANDING SOLUTIONS  |  PROMOTIONAL STANDS  |  BANNERS  |  SIGNAGE</a:t>
            </a:r>
            <a:endParaRPr lang="en-US" sz="850" dirty="0"/>
          </a:p>
        </p:txBody>
      </p:sp>
      <p:sp>
        <p:nvSpPr>
          <p:cNvPr id="6" name="Text 3"/>
          <p:cNvSpPr txBox="1"/>
          <p:nvPr/>
        </p:nvSpPr>
        <p:spPr>
          <a:xfrm>
            <a:off x="7891272" y="6428232"/>
            <a:ext cx="3657600" cy="228600"/>
          </a:xfrm>
          <a:prstGeom prst="rect">
            <a:avLst/>
          </a:prstGeom>
          <a:noFill/>
          <a:ln/>
        </p:spPr>
        <p:txBody>
          <a:bodyPr wrap="square" lIns="0" tIns="0" rIns="0" bIns="0" rtlCol="0" anchor="ctr"/>
          <a:lstStyle/>
          <a:p>
            <a:pPr algn="r" indent="0" marL="0">
              <a:buNone/>
            </a:pPr>
            <a:r>
              <a:rPr lang="en-US" sz="850" spc="300" kern="0" dirty="0">
                <a:solidFill>
                  <a:srgbClr val="A9AFB8"/>
                </a:solidFill>
                <a:latin typeface="Consolas" pitchFamily="34" charset="0"/>
                <a:ea typeface="Consolas" pitchFamily="34" charset="-122"/>
                <a:cs typeface="Consolas" pitchFamily="34" charset="-120"/>
              </a:rPr>
              <a:t>SILVERLINEAD.COM</a:t>
            </a:r>
            <a:endParaRPr lang="en-US" sz="850" dirty="0"/>
          </a:p>
        </p:txBody>
      </p:sp>
      <p:sp>
        <p:nvSpPr>
          <p:cNvPr id="7" name="Shape 4"/>
          <p:cNvSpPr/>
          <p:nvPr/>
        </p:nvSpPr>
        <p:spPr>
          <a:xfrm rot="2700000">
            <a:off x="658368" y="1298448"/>
            <a:ext cx="109728" cy="109728"/>
          </a:xfrm>
          <a:prstGeom prst="rect">
            <a:avLst/>
          </a:prstGeom>
          <a:solidFill>
            <a:srgbClr val="A9AFB8"/>
          </a:solidFill>
          <a:ln w="12700">
            <a:solidFill>
              <a:srgbClr val="A9AFB8"/>
            </a:solidFill>
            <a:prstDash val="solid"/>
          </a:ln>
        </p:spPr>
        <p:txBody>
          <a:bodyPr/>
          <a:p/>
        </p:txBody>
      </p:sp>
      <p:sp>
        <p:nvSpPr>
          <p:cNvPr id="8" name="Text 5"/>
          <p:cNvSpPr txBox="1"/>
          <p:nvPr/>
        </p:nvSpPr>
        <p:spPr>
          <a:xfrm>
            <a:off x="932688" y="1234440"/>
            <a:ext cx="7315200" cy="237744"/>
          </a:xfrm>
          <a:prstGeom prst="rect">
            <a:avLst/>
          </a:prstGeom>
          <a:noFill/>
          <a:ln/>
        </p:spPr>
        <p:txBody>
          <a:bodyPr wrap="square" lIns="0" tIns="0" rIns="0" bIns="0" rtlCol="0" anchor="ctr"/>
          <a:lstStyle/>
          <a:p>
            <a:pPr indent="0" marL="0">
              <a:buNone/>
            </a:pPr>
            <a:r>
              <a:rPr lang="en-US" sz="1100" spc="500" kern="0" dirty="0">
                <a:solidFill>
                  <a:srgbClr val="A9AFB8"/>
                </a:solidFill>
                <a:latin typeface="Consolas" pitchFamily="34" charset="0"/>
                <a:ea typeface="Consolas" pitchFamily="34" charset="-122"/>
                <a:cs typeface="Consolas" pitchFamily="34" charset="-120"/>
              </a:rPr>
              <a:t>WHY SILVERLINE</a:t>
            </a:r>
            <a:endParaRPr lang="en-US" sz="1100" dirty="0"/>
          </a:p>
        </p:txBody>
      </p:sp>
      <p:sp>
        <p:nvSpPr>
          <p:cNvPr id="9" name="Text 6"/>
          <p:cNvSpPr txBox="1"/>
          <p:nvPr/>
        </p:nvSpPr>
        <p:spPr>
          <a:xfrm>
            <a:off x="640080" y="1645920"/>
            <a:ext cx="5669280" cy="1920240"/>
          </a:xfrm>
          <a:prstGeom prst="rect">
            <a:avLst/>
          </a:prstGeom>
          <a:noFill/>
          <a:ln/>
        </p:spPr>
        <p:txBody>
          <a:bodyPr wrap="square" lIns="0" tIns="0" rIns="0" bIns="0" rtlCol="0" anchor="t"/>
          <a:lstStyle/>
          <a:p>
            <a:pPr indent="0" marL="0">
              <a:lnSpc>
                <a:spcPct val="95000"/>
              </a:lnSpc>
              <a:buNone/>
            </a:pPr>
            <a:r>
              <a:rPr sz="3000">
                <a:solidFill>
                  <a:srgbClr val="F4F4F2"/>
                </a:solidFill>
                <a:latin typeface="Arial Black"/>
              </a:rPr>
              <a:t>ONE PARTNER.</a:t>
            </a:r>
            <a:endParaRPr lang="en-US" sz="3400" dirty="0"/>
          </a:p>
        </p:txBody>
      </p:sp>
      <p:sp>
        <p:nvSpPr>
          <p:cNvPr id="10" name="Shape 7"/>
          <p:cNvSpPr/>
          <p:nvPr/>
        </p:nvSpPr>
        <p:spPr>
          <a:xfrm>
            <a:off x="640080" y="5394960"/>
            <a:ext cx="2103120" cy="457200"/>
          </a:xfrm>
          <a:prstGeom prst="roundRect">
            <a:avLst>
              <a:gd name="adj" fmla="val 50000"/>
            </a:avLst>
          </a:prstGeom>
          <a:solidFill>
            <a:srgbClr val="F4F4F2"/>
          </a:solidFill>
          <a:ln w="9525">
            <a:solidFill>
              <a:srgbClr val="F4F4F2"/>
            </a:solidFill>
            <a:prstDash val="solid"/>
          </a:ln>
        </p:spPr>
        <p:txBody>
          <a:bodyPr/>
          <a:p/>
        </p:txBody>
      </p:sp>
      <p:sp>
        <p:nvSpPr>
          <p:cNvPr id="11" name="Text 8"/>
          <p:cNvSpPr txBox="1"/>
          <p:nvPr/>
        </p:nvSpPr>
        <p:spPr>
          <a:xfrm>
            <a:off x="640080" y="5394960"/>
            <a:ext cx="2103120" cy="457200"/>
          </a:xfrm>
          <a:prstGeom prst="rect">
            <a:avLst/>
          </a:prstGeom>
          <a:noFill/>
          <a:ln/>
        </p:spPr>
        <p:txBody>
          <a:bodyPr wrap="square" lIns="0" tIns="0" rIns="0" bIns="0" rtlCol="0" anchor="ctr"/>
          <a:lstStyle/>
          <a:p>
            <a:pPr algn="ctr" indent="0" marL="0">
              <a:buNone/>
            </a:pPr>
            <a:r>
              <a:rPr lang="en-US" sz="1000" spc="300" kern="0" dirty="0">
                <a:solidFill>
                  <a:srgbClr val="1B1C1F"/>
                </a:solidFill>
                <a:latin typeface="Consolas" pitchFamily="34" charset="0"/>
                <a:ea typeface="Consolas" pitchFamily="34" charset="-122"/>
                <a:cs typeface="Consolas" pitchFamily="34" charset="-120"/>
              </a:rPr>
              <a:t>LET'S CONNECT  ↗</a:t>
            </a:r>
            <a:endParaRPr lang="en-US" sz="1000" dirty="0"/>
          </a:p>
        </p:txBody>
      </p:sp>
      <p:sp>
        <p:nvSpPr>
          <p:cNvPr id="12" name="Shape 9"/>
          <p:cNvSpPr/>
          <p:nvPr/>
        </p:nvSpPr>
        <p:spPr>
          <a:xfrm>
            <a:off x="6583680" y="1234440"/>
            <a:ext cx="2377440" cy="2240280"/>
          </a:xfrm>
          <a:prstGeom prst="roundRect">
            <a:avLst>
              <a:gd name="adj" fmla="val 4898"/>
            </a:avLst>
          </a:prstGeom>
          <a:solidFill>
            <a:srgbClr val="2C2D32"/>
          </a:solidFill>
          <a:ln w="9525">
            <a:solidFill>
              <a:srgbClr val="4A4C53"/>
            </a:solidFill>
            <a:prstDash val="solid"/>
          </a:ln>
        </p:spPr>
        <p:txBody>
          <a:bodyPr/>
          <a:p/>
        </p:txBody>
      </p:sp>
      <p:sp>
        <p:nvSpPr>
          <p:cNvPr id="13" name="Shape 10"/>
          <p:cNvSpPr/>
          <p:nvPr/>
        </p:nvSpPr>
        <p:spPr>
          <a:xfrm>
            <a:off x="6812280" y="1463040"/>
            <a:ext cx="548640" cy="548640"/>
          </a:xfrm>
          <a:prstGeom prst="ellipse">
            <a:avLst/>
          </a:prstGeom>
          <a:solidFill>
            <a:srgbClr val="3A3C42"/>
          </a:solidFill>
          <a:ln w="9525">
            <a:solidFill>
              <a:srgbClr val="4A4C53"/>
            </a:solidFill>
            <a:prstDash val="solid"/>
          </a:ln>
        </p:spPr>
        <p:txBody>
          <a:bodyPr/>
          <a:p/>
        </p:txBody>
      </p:sp>
      <p:pic>
        <p:nvPicPr>
          <p:cNvPr id="14" name="Image 1" descr="/tmp/build/assets/image-11-1-88.png">    </p:cNvPr>
          <p:cNvPicPr>
            <a:picLocks noChangeAspect="1"/>
          </p:cNvPicPr>
          <p:nvPr/>
        </p:nvPicPr>
        <p:blipFill>
          <a:blip r:embed="rId3"/>
          <a:stretch>
            <a:fillRect/>
          </a:stretch>
        </p:blipFill>
        <p:spPr>
          <a:xfrm>
            <a:off x="6949440" y="1600200"/>
            <a:ext cx="274320" cy="274320"/>
          </a:xfrm>
          <a:prstGeom prst="rect">
            <a:avLst/>
          </a:prstGeom>
        </p:spPr>
      </p:pic>
      <p:sp>
        <p:nvSpPr>
          <p:cNvPr id="15" name="Text 11"/>
          <p:cNvSpPr txBox="1"/>
          <p:nvPr/>
        </p:nvSpPr>
        <p:spPr>
          <a:xfrm>
            <a:off x="6812280" y="2148840"/>
            <a:ext cx="1920240" cy="502920"/>
          </a:xfrm>
          <a:prstGeom prst="rect">
            <a:avLst/>
          </a:prstGeom>
          <a:noFill/>
          <a:ln/>
        </p:spPr>
        <p:txBody>
          <a:bodyPr wrap="square" lIns="0" tIns="0" rIns="0" bIns="0" rtlCol="0" anchor="t"/>
          <a:lstStyle/>
          <a:p>
            <a:pPr indent="0" marL="0">
              <a:buNone/>
            </a:pPr>
            <a:r>
              <a:rPr lang="en-US" sz="1050" dirty="0">
                <a:solidFill>
                  <a:srgbClr val="F4F4F2"/>
                </a:solidFill>
                <a:latin typeface="Arial Black" pitchFamily="34" charset="0"/>
                <a:ea typeface="Arial Black" pitchFamily="34" charset="-122"/>
                <a:cs typeface="Arial Black" pitchFamily="34" charset="-120"/>
              </a:rPr>
              <a:t>ONE PARTNER, ONE BRIEF</a:t>
            </a:r>
            <a:endParaRPr lang="en-US" sz="1050" dirty="0"/>
          </a:p>
        </p:txBody>
      </p:sp>
      <p:sp>
        <p:nvSpPr>
          <p:cNvPr id="16" name="Text 12"/>
          <p:cNvSpPr txBox="1"/>
          <p:nvPr/>
        </p:nvSpPr>
        <p:spPr>
          <a:xfrm>
            <a:off x="6812280" y="2697480"/>
            <a:ext cx="1920240" cy="685800"/>
          </a:xfrm>
          <a:prstGeom prst="rect">
            <a:avLst/>
          </a:prstGeom>
          <a:noFill/>
          <a:ln/>
        </p:spPr>
        <p:txBody>
          <a:bodyPr wrap="square" lIns="0" tIns="0" rIns="0" bIns="0" rtlCol="0" anchor="t"/>
          <a:lstStyle/>
          <a:p>
            <a:pPr indent="0" marL="0">
              <a:buNone/>
            </a:pPr>
            <a:r>
              <a:rPr lang="en-US" sz="1150" dirty="0">
                <a:solidFill>
                  <a:srgbClr val="B5B6B5"/>
                </a:solidFill>
                <a:latin typeface="Calibri" pitchFamily="34" charset="0"/>
                <a:ea typeface="Calibri" pitchFamily="34" charset="-122"/>
                <a:cs typeface="Calibri" pitchFamily="34" charset="-120"/>
              </a:rPr>
              <a:t>Signage, stands, banners, branding, gifts and print from a single partner.</a:t>
            </a:r>
            <a:endParaRPr lang="en-US" sz="1150" dirty="0"/>
          </a:p>
        </p:txBody>
      </p:sp>
      <p:sp>
        <p:nvSpPr>
          <p:cNvPr id="17" name="Shape 13"/>
          <p:cNvSpPr/>
          <p:nvPr/>
        </p:nvSpPr>
        <p:spPr>
          <a:xfrm>
            <a:off x="9171432" y="1234440"/>
            <a:ext cx="2377440" cy="2240280"/>
          </a:xfrm>
          <a:prstGeom prst="roundRect">
            <a:avLst>
              <a:gd name="adj" fmla="val 4898"/>
            </a:avLst>
          </a:prstGeom>
          <a:solidFill>
            <a:srgbClr val="2C2D32"/>
          </a:solidFill>
          <a:ln w="9525">
            <a:solidFill>
              <a:srgbClr val="4A4C53"/>
            </a:solidFill>
            <a:prstDash val="solid"/>
          </a:ln>
        </p:spPr>
        <p:txBody>
          <a:bodyPr/>
          <a:p/>
        </p:txBody>
      </p:sp>
      <p:sp>
        <p:nvSpPr>
          <p:cNvPr id="18" name="Shape 14"/>
          <p:cNvSpPr/>
          <p:nvPr/>
        </p:nvSpPr>
        <p:spPr>
          <a:xfrm>
            <a:off x="9400032" y="1463040"/>
            <a:ext cx="548640" cy="548640"/>
          </a:xfrm>
          <a:prstGeom prst="ellipse">
            <a:avLst/>
          </a:prstGeom>
          <a:solidFill>
            <a:srgbClr val="3A3C42"/>
          </a:solidFill>
          <a:ln w="9525">
            <a:solidFill>
              <a:srgbClr val="4A4C53"/>
            </a:solidFill>
            <a:prstDash val="solid"/>
          </a:ln>
        </p:spPr>
        <p:txBody>
          <a:bodyPr/>
          <a:p/>
        </p:txBody>
      </p:sp>
      <p:pic>
        <p:nvPicPr>
          <p:cNvPr id="19" name="Image 2" descr="/tmp/build/assets/image-11-2-89.png">    </p:cNvPr>
          <p:cNvPicPr>
            <a:picLocks noChangeAspect="1"/>
          </p:cNvPicPr>
          <p:nvPr/>
        </p:nvPicPr>
        <p:blipFill>
          <a:blip r:embed="rId4"/>
          <a:stretch>
            <a:fillRect/>
          </a:stretch>
        </p:blipFill>
        <p:spPr>
          <a:xfrm>
            <a:off x="9537192" y="1600200"/>
            <a:ext cx="274320" cy="274320"/>
          </a:xfrm>
          <a:prstGeom prst="rect">
            <a:avLst/>
          </a:prstGeom>
        </p:spPr>
      </p:pic>
      <p:sp>
        <p:nvSpPr>
          <p:cNvPr id="20" name="Text 15"/>
          <p:cNvSpPr txBox="1"/>
          <p:nvPr/>
        </p:nvSpPr>
        <p:spPr>
          <a:xfrm>
            <a:off x="9400032" y="2148840"/>
            <a:ext cx="1920240" cy="502920"/>
          </a:xfrm>
          <a:prstGeom prst="rect">
            <a:avLst/>
          </a:prstGeom>
          <a:noFill/>
          <a:ln/>
        </p:spPr>
        <p:txBody>
          <a:bodyPr wrap="square" lIns="0" tIns="0" rIns="0" bIns="0" rtlCol="0" anchor="t"/>
          <a:lstStyle/>
          <a:p>
            <a:pPr indent="0" marL="0">
              <a:buNone/>
            </a:pPr>
            <a:r>
              <a:rPr lang="en-US" sz="1050" dirty="0">
                <a:solidFill>
                  <a:srgbClr val="F4F4F2"/>
                </a:solidFill>
                <a:latin typeface="Arial Black" pitchFamily="34" charset="0"/>
                <a:ea typeface="Arial Black" pitchFamily="34" charset="-122"/>
                <a:cs typeface="Arial Black" pitchFamily="34" charset="-120"/>
              </a:rPr>
              <a:t>DESIGN IN-HOUSE</a:t>
            </a:r>
            <a:endParaRPr lang="en-US" sz="1050" dirty="0"/>
          </a:p>
        </p:txBody>
      </p:sp>
      <p:sp>
        <p:nvSpPr>
          <p:cNvPr id="21" name="Text 16"/>
          <p:cNvSpPr txBox="1"/>
          <p:nvPr/>
        </p:nvSpPr>
        <p:spPr>
          <a:xfrm>
            <a:off x="9400032" y="2697480"/>
            <a:ext cx="1920240" cy="685800"/>
          </a:xfrm>
          <a:prstGeom prst="rect">
            <a:avLst/>
          </a:prstGeom>
          <a:noFill/>
          <a:ln/>
        </p:spPr>
        <p:txBody>
          <a:bodyPr wrap="square" lIns="0" tIns="0" rIns="0" bIns="0" rtlCol="0" anchor="t"/>
          <a:lstStyle/>
          <a:p>
            <a:pPr indent="0" marL="0">
              <a:buNone/>
            </a:pPr>
            <a:r>
              <a:rPr lang="en-US" sz="1150" dirty="0">
                <a:solidFill>
                  <a:srgbClr val="B5B6B5"/>
                </a:solidFill>
                <a:latin typeface="Calibri" pitchFamily="34" charset="0"/>
                <a:ea typeface="Calibri" pitchFamily="34" charset="-122"/>
                <a:cs typeface="Calibri" pitchFamily="34" charset="-120"/>
              </a:rPr>
              <a:t>Our in-house design team turns your ideas into visuals, then into finished brand presence.</a:t>
            </a:r>
            <a:endParaRPr lang="en-US" sz="1150" dirty="0"/>
          </a:p>
        </p:txBody>
      </p:sp>
      <p:sp>
        <p:nvSpPr>
          <p:cNvPr id="22" name="Shape 17"/>
          <p:cNvSpPr/>
          <p:nvPr/>
        </p:nvSpPr>
        <p:spPr>
          <a:xfrm>
            <a:off x="6583680" y="3685032"/>
            <a:ext cx="2377440" cy="2240280"/>
          </a:xfrm>
          <a:prstGeom prst="roundRect">
            <a:avLst>
              <a:gd name="adj" fmla="val 4898"/>
            </a:avLst>
          </a:prstGeom>
          <a:solidFill>
            <a:srgbClr val="2C2D32"/>
          </a:solidFill>
          <a:ln w="9525">
            <a:solidFill>
              <a:srgbClr val="4A4C53"/>
            </a:solidFill>
            <a:prstDash val="solid"/>
          </a:ln>
        </p:spPr>
        <p:txBody>
          <a:bodyPr/>
          <a:p/>
        </p:txBody>
      </p:sp>
      <p:sp>
        <p:nvSpPr>
          <p:cNvPr id="23" name="Shape 18"/>
          <p:cNvSpPr/>
          <p:nvPr/>
        </p:nvSpPr>
        <p:spPr>
          <a:xfrm>
            <a:off x="6812280" y="3913632"/>
            <a:ext cx="548640" cy="548640"/>
          </a:xfrm>
          <a:prstGeom prst="ellipse">
            <a:avLst/>
          </a:prstGeom>
          <a:solidFill>
            <a:srgbClr val="3A3C42"/>
          </a:solidFill>
          <a:ln w="9525">
            <a:solidFill>
              <a:srgbClr val="4A4C53"/>
            </a:solidFill>
            <a:prstDash val="solid"/>
          </a:ln>
        </p:spPr>
        <p:txBody>
          <a:bodyPr/>
          <a:p/>
        </p:txBody>
      </p:sp>
      <p:pic>
        <p:nvPicPr>
          <p:cNvPr id="24" name="Image 3" descr="/tmp/build/assets/image-11-3-90.png">    </p:cNvPr>
          <p:cNvPicPr>
            <a:picLocks noChangeAspect="1"/>
          </p:cNvPicPr>
          <p:nvPr/>
        </p:nvPicPr>
        <p:blipFill>
          <a:blip r:embed="rId5"/>
          <a:stretch>
            <a:fillRect/>
          </a:stretch>
        </p:blipFill>
        <p:spPr>
          <a:xfrm>
            <a:off x="6949440" y="4050792"/>
            <a:ext cx="274320" cy="274320"/>
          </a:xfrm>
          <a:prstGeom prst="rect">
            <a:avLst/>
          </a:prstGeom>
        </p:spPr>
      </p:pic>
      <p:sp>
        <p:nvSpPr>
          <p:cNvPr id="25" name="Text 19"/>
          <p:cNvSpPr txBox="1"/>
          <p:nvPr/>
        </p:nvSpPr>
        <p:spPr>
          <a:xfrm>
            <a:off x="6812280" y="4599432"/>
            <a:ext cx="1920240" cy="502920"/>
          </a:xfrm>
          <a:prstGeom prst="rect">
            <a:avLst/>
          </a:prstGeom>
          <a:noFill/>
          <a:ln/>
        </p:spPr>
        <p:txBody>
          <a:bodyPr wrap="square" lIns="0" tIns="0" rIns="0" bIns="0" rtlCol="0" anchor="t"/>
          <a:lstStyle/>
          <a:p>
            <a:pPr indent="0" marL="0">
              <a:buNone/>
            </a:pPr>
            <a:r>
              <a:rPr lang="en-US" sz="1050" dirty="0">
                <a:solidFill>
                  <a:srgbClr val="F4F4F2"/>
                </a:solidFill>
                <a:latin typeface="Arial Black" pitchFamily="34" charset="0"/>
                <a:ea typeface="Arial Black" pitchFamily="34" charset="-122"/>
                <a:cs typeface="Arial Black" pitchFamily="34" charset="-120"/>
              </a:rPr>
              <a:t>GLOBAL SUPPLIER NETWORK</a:t>
            </a:r>
            <a:endParaRPr lang="en-US" sz="1050" dirty="0"/>
          </a:p>
        </p:txBody>
      </p:sp>
      <p:sp>
        <p:nvSpPr>
          <p:cNvPr id="26" name="Text 20"/>
          <p:cNvSpPr txBox="1"/>
          <p:nvPr/>
        </p:nvSpPr>
        <p:spPr>
          <a:xfrm>
            <a:off x="6812280" y="5148072"/>
            <a:ext cx="1920240" cy="685800"/>
          </a:xfrm>
          <a:prstGeom prst="rect">
            <a:avLst/>
          </a:prstGeom>
          <a:noFill/>
          <a:ln/>
        </p:spPr>
        <p:txBody>
          <a:bodyPr wrap="square" lIns="0" tIns="0" rIns="0" bIns="0" rtlCol="0" anchor="t"/>
          <a:lstStyle/>
          <a:p>
            <a:pPr indent="0" marL="0">
              <a:buNone/>
            </a:pPr>
            <a:r>
              <a:rPr lang="en-US" sz="1150" dirty="0">
                <a:solidFill>
                  <a:srgbClr val="B5B6B5"/>
                </a:solidFill>
                <a:latin typeface="Calibri" pitchFamily="34" charset="0"/>
                <a:ea typeface="Calibri" pitchFamily="34" charset="-122"/>
                <a:cs typeface="Calibri" pitchFamily="34" charset="-120"/>
              </a:rPr>
              <a:t>Promotional items sourced through our established supplier network.</a:t>
            </a:r>
            <a:endParaRPr lang="en-US" sz="1150" dirty="0"/>
          </a:p>
        </p:txBody>
      </p:sp>
      <p:sp>
        <p:nvSpPr>
          <p:cNvPr id="27" name="Shape 21"/>
          <p:cNvSpPr/>
          <p:nvPr/>
        </p:nvSpPr>
        <p:spPr>
          <a:xfrm>
            <a:off x="9171432" y="3685032"/>
            <a:ext cx="2377440" cy="2240280"/>
          </a:xfrm>
          <a:prstGeom prst="roundRect">
            <a:avLst>
              <a:gd name="adj" fmla="val 4898"/>
            </a:avLst>
          </a:prstGeom>
          <a:solidFill>
            <a:srgbClr val="2C2D32"/>
          </a:solidFill>
          <a:ln w="9525">
            <a:solidFill>
              <a:srgbClr val="4A4C53"/>
            </a:solidFill>
            <a:prstDash val="solid"/>
          </a:ln>
        </p:spPr>
        <p:txBody>
          <a:bodyPr/>
          <a:p/>
        </p:txBody>
      </p:sp>
      <p:sp>
        <p:nvSpPr>
          <p:cNvPr id="28" name="Shape 22"/>
          <p:cNvSpPr/>
          <p:nvPr/>
        </p:nvSpPr>
        <p:spPr>
          <a:xfrm>
            <a:off x="9400032" y="3913632"/>
            <a:ext cx="548640" cy="548640"/>
          </a:xfrm>
          <a:prstGeom prst="ellipse">
            <a:avLst/>
          </a:prstGeom>
          <a:solidFill>
            <a:srgbClr val="3A3C42"/>
          </a:solidFill>
          <a:ln w="9525">
            <a:solidFill>
              <a:srgbClr val="4A4C53"/>
            </a:solidFill>
            <a:prstDash val="solid"/>
          </a:ln>
        </p:spPr>
        <p:txBody>
          <a:bodyPr/>
          <a:p/>
        </p:txBody>
      </p:sp>
      <p:pic>
        <p:nvPicPr>
          <p:cNvPr id="29" name="Image 4" descr="/tmp/build/assets/image-11-4-91.png">    </p:cNvPr>
          <p:cNvPicPr>
            <a:picLocks noChangeAspect="1"/>
          </p:cNvPicPr>
          <p:nvPr/>
        </p:nvPicPr>
        <p:blipFill>
          <a:blip r:embed="rId6"/>
          <a:stretch>
            <a:fillRect/>
          </a:stretch>
        </p:blipFill>
        <p:spPr>
          <a:xfrm>
            <a:off x="9537192" y="4050792"/>
            <a:ext cx="274320" cy="274320"/>
          </a:xfrm>
          <a:prstGeom prst="rect">
            <a:avLst/>
          </a:prstGeom>
        </p:spPr>
      </p:pic>
      <p:sp>
        <p:nvSpPr>
          <p:cNvPr id="30" name="Text 23"/>
          <p:cNvSpPr txBox="1"/>
          <p:nvPr/>
        </p:nvSpPr>
        <p:spPr>
          <a:xfrm>
            <a:off x="9400032" y="4599432"/>
            <a:ext cx="1920240" cy="502920"/>
          </a:xfrm>
          <a:prstGeom prst="rect">
            <a:avLst/>
          </a:prstGeom>
          <a:noFill/>
          <a:ln/>
        </p:spPr>
        <p:txBody>
          <a:bodyPr wrap="square" lIns="0" tIns="0" rIns="0" bIns="0" rtlCol="0" anchor="t"/>
          <a:lstStyle/>
          <a:p>
            <a:pPr indent="0" marL="0">
              <a:buNone/>
            </a:pPr>
            <a:r>
              <a:rPr lang="en-US" sz="1050" dirty="0">
                <a:solidFill>
                  <a:srgbClr val="F4F4F2"/>
                </a:solidFill>
                <a:latin typeface="Arial Black" pitchFamily="34" charset="0"/>
                <a:ea typeface="Arial Black" pitchFamily="34" charset="-122"/>
                <a:cs typeface="Arial Black" pitchFamily="34" charset="-120"/>
              </a:rPr>
              <a:t>RIGHT PLACE, RIGHT TIME</a:t>
            </a:r>
            <a:endParaRPr lang="en-US" sz="1050" dirty="0"/>
          </a:p>
        </p:txBody>
      </p:sp>
      <p:sp>
        <p:nvSpPr>
          <p:cNvPr id="31" name="Text 24"/>
          <p:cNvSpPr txBox="1"/>
          <p:nvPr/>
        </p:nvSpPr>
        <p:spPr>
          <a:xfrm>
            <a:off x="9400032" y="5148072"/>
            <a:ext cx="1920240" cy="685800"/>
          </a:xfrm>
          <a:prstGeom prst="rect">
            <a:avLst/>
          </a:prstGeom>
          <a:noFill/>
          <a:ln/>
        </p:spPr>
        <p:txBody>
          <a:bodyPr wrap="square" lIns="0" tIns="0" rIns="0" bIns="0" rtlCol="0" anchor="t"/>
          <a:lstStyle/>
          <a:p>
            <a:pPr indent="0" marL="0">
              <a:buNone/>
            </a:pPr>
            <a:r>
              <a:rPr lang="en-US" sz="1150" dirty="0">
                <a:solidFill>
                  <a:srgbClr val="B5B6B5"/>
                </a:solidFill>
                <a:latin typeface="Calibri" pitchFamily="34" charset="0"/>
                <a:ea typeface="Calibri" pitchFamily="34" charset="-122"/>
                <a:cs typeface="Calibri" pitchFamily="34" charset="-120"/>
              </a:rPr>
              <a:t>A dedicated supply and distribution network keeps projects on schedule.</a:t>
            </a:r>
            <a:endParaRPr lang="en-US" sz="1150" dirty="0"/>
          </a:p>
        </p:txBody>
      </p:sp>
      <p:sp>
        <p:nvSpPr>
          <p:cNvPr id="100" name="Why Intro"/>
          <p:cNvSpPr txBox="1"/>
          <p:nvPr/>
        </p:nvSpPr>
        <p:spPr>
          <a:xfrm>
            <a:off x="640080" y="2286000"/>
            <a:ext cx="5303520" cy="960120"/>
          </a:xfrm>
          <a:prstGeom prst="rect">
            <a:avLst/>
          </a:prstGeom>
          <a:noFill/>
          <a:ln/>
        </p:spPr>
        <p:txBody>
          <a:bodyPr wrap="square" lIns="0" tIns="0" rIns="0" bIns="0" rtlCol="0" anchor="t"/>
          <a:lstStyle/>
          <a:p>
            <a:pPr indent="0" marL="0">
              <a:lnSpc>
                <a:spcPct val="110000"/>
              </a:lnSpc>
              <a:buNone/>
            </a:pPr>
            <a:r>
              <a:rPr lang="en-US" sz="1400" dirty="0">
                <a:solidFill>
                  <a:srgbClr val="B5B6B5"/>
                </a:solidFill>
                <a:latin typeface="Calibri"/>
                <a:ea typeface="Calibri"/>
                <a:cs typeface="Calibri"/>
              </a:rPr>
              <a:t>From the first brief to final installation, Silverline manages every stage of your brand presence, so you get one point of contact, one consistent look and one timeline instead of coordinating five suppliers.</a:t>
            </a:r>
          </a:p>
        </p:txBody>
      </p:sp>
      <p:sp>
        <p:nvSpPr>
          <p:cNvPr id="101" name="Why Points"/>
          <p:cNvSpPr txBox="1"/>
          <p:nvPr/>
        </p:nvSpPr>
        <p:spPr>
          <a:xfrm>
            <a:off x="640080" y="3474720"/>
            <a:ext cx="5303520" cy="960120"/>
          </a:xfrm>
          <a:prstGeom prst="rect">
            <a:avLst/>
          </a:prstGeom>
          <a:noFill/>
          <a:ln/>
        </p:spPr>
        <p:txBody>
          <a:bodyPr wrap="square" lIns="0" tIns="0" rIns="0" bIns="0" rtlCol="0" anchor="t"/>
          <a:lstStyle/>
          <a:p>
            <a:pPr marL="228600" indent="-228600">
              <a:buClr>
                <a:srgbClr val="A9AFB8"/>
              </a:buClr>
              <a:buSzPct val="70000"/>
              <a:buFont typeface="Arial"/>
              <a:buChar char="◆"/>
            </a:pPr>
            <a:r>
              <a:rPr lang="en-US" sz="1300" dirty="0">
                <a:solidFill>
                  <a:srgbClr val="D6D7D6"/>
                </a:solidFill>
                <a:latin typeface="Calibri"/>
                <a:ea typeface="Calibri"/>
                <a:cs typeface="Calibri"/>
              </a:rPr>
              <a:t>UAE-based team with in-house design and production</a:t>
            </a:r>
          </a:p>
          <a:p>
            <a:pPr marL="228600" indent="-228600">
              <a:spcBef>
                <a:spcPts val="600"/>
              </a:spcBef>
              <a:buClr>
                <a:srgbClr val="A9AFB8"/>
              </a:buClr>
              <a:buSzPct val="70000"/>
              <a:buFont typeface="Arial"/>
              <a:buChar char="◆"/>
            </a:pPr>
            <a:r>
              <a:rPr lang="en-US" sz="1300" dirty="0">
                <a:solidFill>
                  <a:srgbClr val="D6D7D6"/>
                </a:solidFill>
                <a:latin typeface="Calibri"/>
                <a:ea typeface="Calibri"/>
                <a:cs typeface="Calibri"/>
              </a:rPr>
              <a:t>Custom to your space, brief and budget</a:t>
            </a:r>
          </a:p>
          <a:p>
            <a:pPr marL="228600" indent="-228600">
              <a:spcBef>
                <a:spcPts val="600"/>
              </a:spcBef>
              <a:buClr>
                <a:srgbClr val="A9AFB8"/>
              </a:buClr>
              <a:buSzPct val="70000"/>
              <a:buFont typeface="Arial"/>
              <a:buChar char="◆"/>
            </a:pPr>
            <a:r>
              <a:rPr lang="en-US" sz="1300" dirty="0">
                <a:solidFill>
                  <a:srgbClr val="D6D7D6"/>
                </a:solidFill>
                <a:latin typeface="Calibri"/>
                <a:ea typeface="Calibri"/>
                <a:cs typeface="Calibri"/>
              </a:rPr>
              <a:t>Checked before it ships, installed on site</a:t>
            </a:r>
          </a:p>
        </p:txBody>
      </p:sp>
      <p:sp>
        <p:nvSpPr>
          <p:cNvPr id="102" name="Tell Us"/>
          <p:cNvSpPr txBox="1"/>
          <p:nvPr/>
        </p:nvSpPr>
        <p:spPr>
          <a:xfrm>
            <a:off x="640080" y="4617720"/>
            <a:ext cx="5303520" cy="594360"/>
          </a:xfrm>
          <a:prstGeom prst="rect">
            <a:avLst/>
          </a:prstGeom>
          <a:noFill/>
          <a:ln/>
        </p:spPr>
        <p:txBody>
          <a:bodyPr wrap="square" lIns="0" tIns="0" rIns="0" bIns="0" rtlCol="0" anchor="t"/>
          <a:lstStyle/>
          <a:p>
            <a:pPr indent="0" marL="0">
              <a:lnSpc>
                <a:spcPct val="100000"/>
              </a:lnSpc>
              <a:buNone/>
            </a:pPr>
            <a:r>
              <a:rPr lang="en-US" sz="1600" dirty="0">
                <a:solidFill>
                  <a:srgbClr val="F4F4F2"/>
                </a:solidFill>
                <a:latin typeface="Arial Black"/>
                <a:ea typeface="Arial Black"/>
                <a:cs typeface="Arial Black"/>
              </a:rPr>
              <a:t>TELL US WHERE YOUR BRAND NEEDS TO BE.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build/assets/logo.png">    </p:cNvPr>
          <p:cNvPicPr>
            <a:picLocks noChangeAspect="1"/>
          </p:cNvPicPr>
          <p:nvPr/>
        </p:nvPicPr>
        <p:blipFill>
          <a:blip r:embed="rId2"/>
          <a:stretch>
            <a:fillRect/>
          </a:stretch>
        </p:blipFill>
        <p:spPr>
          <a:xfrm>
            <a:off x="640080" y="292608"/>
            <a:ext cx="1484797" cy="457200"/>
          </a:xfrm>
          <a:prstGeom prst="rect">
            <a:avLst/>
          </a:prstGeom>
        </p:spPr>
      </p:pic>
      <p:sp>
        <p:nvSpPr>
          <p:cNvPr id="3" name="Text 0"/>
          <p:cNvSpPr txBox="1"/>
          <p:nvPr/>
        </p:nvSpPr>
        <p:spPr>
          <a:xfrm>
            <a:off x="9720072" y="411480"/>
            <a:ext cx="1828800" cy="274320"/>
          </a:xfrm>
          <a:prstGeom prst="rect">
            <a:avLst/>
          </a:prstGeom>
          <a:noFill/>
          <a:ln/>
        </p:spPr>
        <p:txBody>
          <a:bodyPr wrap="square" lIns="0" tIns="0" rIns="0" bIns="0" rtlCol="0" anchor="ctr"/>
          <a:lstStyle/>
          <a:p>
            <a:pPr algn="r" indent="0" marL="0">
              <a:buNone/>
            </a:pPr>
            <a:r>
              <a:rPr lang="en-US" sz="1000" spc="300" kern="0" dirty="0">
                <a:solidFill>
                  <a:srgbClr val="A9AFB8"/>
                </a:solidFill>
                <a:latin typeface="Consolas" pitchFamily="34" charset="0"/>
                <a:ea typeface="Consolas" pitchFamily="34" charset="-122"/>
                <a:cs typeface="Consolas" pitchFamily="34" charset="-120"/>
              </a:rPr>
              <a:t>07 / 07</a:t>
            </a:r>
            <a:endParaRPr lang="en-US" sz="1000" dirty="0"/>
          </a:p>
        </p:txBody>
      </p:sp>
      <p:sp>
        <p:nvSpPr>
          <p:cNvPr id="4" name="Shape 1"/>
          <p:cNvSpPr/>
          <p:nvPr/>
        </p:nvSpPr>
        <p:spPr>
          <a:xfrm>
            <a:off x="640080" y="6355080"/>
            <a:ext cx="10908792" cy="0"/>
          </a:xfrm>
          <a:prstGeom prst="line">
            <a:avLst/>
          </a:prstGeom>
          <a:noFill/>
          <a:ln w="9525">
            <a:solidFill>
              <a:srgbClr val="4A4C53"/>
            </a:solidFill>
            <a:prstDash val="solid"/>
          </a:ln>
        </p:spPr>
      </p:sp>
      <p:sp>
        <p:nvSpPr>
          <p:cNvPr id="5" name="Text 2"/>
          <p:cNvSpPr txBox="1"/>
          <p:nvPr/>
        </p:nvSpPr>
        <p:spPr>
          <a:xfrm>
            <a:off x="640080" y="6428232"/>
            <a:ext cx="7132320" cy="228600"/>
          </a:xfrm>
          <a:prstGeom prst="rect">
            <a:avLst/>
          </a:prstGeom>
          <a:noFill/>
          <a:ln/>
        </p:spPr>
        <p:txBody>
          <a:bodyPr wrap="square" lIns="0" tIns="0" rIns="0" bIns="0" rtlCol="0" anchor="ctr"/>
          <a:lstStyle/>
          <a:p>
            <a:pPr indent="0" marL="0">
              <a:buNone/>
            </a:pPr>
            <a:r>
              <a:rPr lang="en-US" sz="850" spc="300" kern="0" dirty="0">
                <a:solidFill>
                  <a:srgbClr val="A9AFB8"/>
                </a:solidFill>
                <a:latin typeface="Consolas" pitchFamily="34" charset="0"/>
                <a:ea typeface="Consolas" pitchFamily="34" charset="-122"/>
                <a:cs typeface="Consolas" pitchFamily="34" charset="-120"/>
              </a:rPr>
              <a:t>BRANDING SOLUTIONS  |  PROMOTIONAL STANDS  |  BANNERS  |  SIGNAGE</a:t>
            </a:r>
            <a:endParaRPr lang="en-US" sz="850" dirty="0"/>
          </a:p>
        </p:txBody>
      </p:sp>
      <p:sp>
        <p:nvSpPr>
          <p:cNvPr id="6" name="Text 3"/>
          <p:cNvSpPr txBox="1"/>
          <p:nvPr/>
        </p:nvSpPr>
        <p:spPr>
          <a:xfrm>
            <a:off x="7891272" y="6428232"/>
            <a:ext cx="3657600" cy="228600"/>
          </a:xfrm>
          <a:prstGeom prst="rect">
            <a:avLst/>
          </a:prstGeom>
          <a:noFill/>
          <a:ln/>
        </p:spPr>
        <p:txBody>
          <a:bodyPr wrap="square" lIns="0" tIns="0" rIns="0" bIns="0" rtlCol="0" anchor="ctr"/>
          <a:lstStyle/>
          <a:p>
            <a:pPr algn="r" indent="0" marL="0">
              <a:buNone/>
            </a:pPr>
            <a:r>
              <a:rPr lang="en-US" sz="850" spc="300" kern="0" dirty="0">
                <a:solidFill>
                  <a:srgbClr val="A9AFB8"/>
                </a:solidFill>
                <a:latin typeface="Consolas" pitchFamily="34" charset="0"/>
                <a:ea typeface="Consolas" pitchFamily="34" charset="-122"/>
                <a:cs typeface="Consolas" pitchFamily="34" charset="-120"/>
              </a:rPr>
              <a:t>SILVERLINEAD.COM</a:t>
            </a:r>
            <a:endParaRPr lang="en-US" sz="850" dirty="0"/>
          </a:p>
        </p:txBody>
      </p:sp>
      <p:sp>
        <p:nvSpPr>
          <p:cNvPr id="7" name="Shape 4"/>
          <p:cNvSpPr/>
          <p:nvPr/>
        </p:nvSpPr>
        <p:spPr>
          <a:xfrm rot="2700000">
            <a:off x="658368" y="1801368"/>
            <a:ext cx="109728" cy="109728"/>
          </a:xfrm>
          <a:prstGeom prst="rect">
            <a:avLst/>
          </a:prstGeom>
          <a:solidFill>
            <a:srgbClr val="A9AFB8"/>
          </a:solidFill>
          <a:ln w="12700">
            <a:solidFill>
              <a:srgbClr val="A9AFB8"/>
            </a:solidFill>
            <a:prstDash val="solid"/>
          </a:ln>
        </p:spPr>
      </p:sp>
      <p:sp>
        <p:nvSpPr>
          <p:cNvPr id="8" name="Text 5"/>
          <p:cNvSpPr txBox="1"/>
          <p:nvPr/>
        </p:nvSpPr>
        <p:spPr>
          <a:xfrm>
            <a:off x="932688" y="1737360"/>
            <a:ext cx="7315200" cy="237744"/>
          </a:xfrm>
          <a:prstGeom prst="rect">
            <a:avLst/>
          </a:prstGeom>
          <a:noFill/>
          <a:ln/>
        </p:spPr>
        <p:txBody>
          <a:bodyPr wrap="square" lIns="0" tIns="0" rIns="0" bIns="0" rtlCol="0" anchor="ctr"/>
          <a:lstStyle/>
          <a:p>
            <a:pPr indent="0" marL="0">
              <a:buNone/>
            </a:pPr>
            <a:r>
              <a:rPr lang="en-US" sz="1100" spc="500" kern="0" dirty="0">
                <a:solidFill>
                  <a:srgbClr val="A9AFB8"/>
                </a:solidFill>
                <a:latin typeface="Consolas" pitchFamily="34" charset="0"/>
                <a:ea typeface="Consolas" pitchFamily="34" charset="-122"/>
                <a:cs typeface="Consolas" pitchFamily="34" charset="-120"/>
              </a:rPr>
              <a:t>GET IN TOUCH</a:t>
            </a:r>
            <a:endParaRPr lang="en-US" sz="1100" dirty="0"/>
          </a:p>
        </p:txBody>
      </p:sp>
      <p:sp>
        <p:nvSpPr>
          <p:cNvPr id="9" name="Text 6"/>
          <p:cNvSpPr txBox="1"/>
          <p:nvPr/>
        </p:nvSpPr>
        <p:spPr>
          <a:xfrm>
            <a:off x="640080" y="2194560"/>
            <a:ext cx="6400800" cy="1737360"/>
          </a:xfrm>
          <a:prstGeom prst="rect">
            <a:avLst/>
          </a:prstGeom>
          <a:noFill/>
          <a:ln/>
        </p:spPr>
        <p:txBody>
          <a:bodyPr wrap="square" lIns="0" tIns="0" rIns="0" bIns="0" rtlCol="0" anchor="t"/>
          <a:lstStyle/>
          <a:p>
            <a:pPr indent="0" marL="0">
              <a:lnSpc>
                <a:spcPct val="95000"/>
              </a:lnSpc>
              <a:buNone/>
            </a:pPr>
            <a:r>
              <a:rPr lang="en-US" sz="4000" dirty="0">
                <a:solidFill>
                  <a:srgbClr val="F4F4F2"/>
                </a:solidFill>
                <a:latin typeface="Arial Black" pitchFamily="34" charset="0"/>
                <a:ea typeface="Arial Black" pitchFamily="34" charset="-122"/>
                <a:cs typeface="Arial Black" pitchFamily="34" charset="-120"/>
              </a:rPr>
              <a:t>LET'S MAKE YOUR</a:t>
            </a:r>
            <a:endParaRPr lang="en-US" sz="4000" dirty="0"/>
          </a:p>
          <a:p>
            <a:pPr indent="0" marL="0">
              <a:lnSpc>
                <a:spcPct val="95000"/>
              </a:lnSpc>
              <a:buNone/>
            </a:pPr>
            <a:r>
              <a:rPr lang="en-US" sz="4000" dirty="0">
                <a:solidFill>
                  <a:srgbClr val="F4F4F2"/>
                </a:solidFill>
                <a:latin typeface="Arial Black" pitchFamily="34" charset="0"/>
                <a:ea typeface="Arial Black" pitchFamily="34" charset="-122"/>
                <a:cs typeface="Arial Black" pitchFamily="34" charset="-120"/>
              </a:rPr>
              <a:t>BRAND UNMISSABLE.</a:t>
            </a:r>
            <a:endParaRPr lang="en-US" sz="4000" dirty="0"/>
          </a:p>
        </p:txBody>
      </p:sp>
      <p:sp>
        <p:nvSpPr>
          <p:cNvPr id="10" name="Text 7"/>
          <p:cNvSpPr txBox="1"/>
          <p:nvPr/>
        </p:nvSpPr>
        <p:spPr>
          <a:xfrm>
            <a:off x="640080" y="4114800"/>
            <a:ext cx="5120640" cy="640080"/>
          </a:xfrm>
          <a:prstGeom prst="rect">
            <a:avLst/>
          </a:prstGeom>
          <a:noFill/>
          <a:ln/>
        </p:spPr>
        <p:txBody>
          <a:bodyPr wrap="square" lIns="0" tIns="0" rIns="0" bIns="0" rtlCol="0" anchor="t"/>
          <a:lstStyle/>
          <a:p>
            <a:pPr indent="0" marL="0">
              <a:lnSpc>
                <a:spcPct val="110000"/>
              </a:lnSpc>
              <a:buNone/>
            </a:pPr>
            <a:r>
              <a:rPr lang="en-US" sz="1800" dirty="0">
                <a:solidFill>
                  <a:srgbClr val="B5B6B5"/>
                </a:solidFill>
                <a:latin typeface="Calibri" pitchFamily="34" charset="0"/>
                <a:ea typeface="Calibri" pitchFamily="34" charset="-122"/>
                <a:cs typeface="Calibri" pitchFamily="34" charset="-120"/>
              </a:rPr>
              <a:t>Send us a brief and we'll come back with ideas and a quote.</a:t>
            </a:r>
            <a:endParaRPr lang="en-US" sz="1800" dirty="0"/>
          </a:p>
        </p:txBody>
      </p:sp>
      <p:sp>
        <p:nvSpPr>
          <p:cNvPr id="11" name="Shape 8"/>
          <p:cNvSpPr/>
          <p:nvPr/>
        </p:nvSpPr>
        <p:spPr>
          <a:xfrm>
            <a:off x="7315200" y="1737360"/>
            <a:ext cx="640080" cy="640080"/>
          </a:xfrm>
          <a:prstGeom prst="ellipse">
            <a:avLst/>
          </a:prstGeom>
          <a:solidFill>
            <a:srgbClr val="3A3C42"/>
          </a:solidFill>
          <a:ln w="9525">
            <a:solidFill>
              <a:srgbClr val="4A4C53"/>
            </a:solidFill>
            <a:prstDash val="solid"/>
          </a:ln>
        </p:spPr>
      </p:sp>
      <p:pic>
        <p:nvPicPr>
          <p:cNvPr id="12" name="Image 1" descr="/tmp/build/assets/image-12-2-94.png">    </p:cNvPr>
          <p:cNvPicPr>
            <a:picLocks noChangeAspect="1"/>
          </p:cNvPicPr>
          <p:nvPr/>
        </p:nvPicPr>
        <p:blipFill>
          <a:blip r:embed="rId3"/>
          <a:stretch>
            <a:fillRect/>
          </a:stretch>
        </p:blipFill>
        <p:spPr>
          <a:xfrm>
            <a:off x="7475220" y="1897380"/>
            <a:ext cx="320040" cy="320040"/>
          </a:xfrm>
          <a:prstGeom prst="rect">
            <a:avLst/>
          </a:prstGeom>
        </p:spPr>
      </p:pic>
      <p:sp>
        <p:nvSpPr>
          <p:cNvPr id="13" name="Text 9"/>
          <p:cNvSpPr txBox="1"/>
          <p:nvPr/>
        </p:nvSpPr>
        <p:spPr>
          <a:xfrm>
            <a:off x="8229600" y="1764792"/>
            <a:ext cx="3200400" cy="228600"/>
          </a:xfrm>
          <a:prstGeom prst="rect">
            <a:avLst/>
          </a:prstGeom>
          <a:noFill/>
          <a:ln/>
        </p:spPr>
        <p:txBody>
          <a:bodyPr wrap="square" lIns="0" tIns="0" rIns="0" bIns="0" rtlCol="0" anchor="ctr"/>
          <a:lstStyle/>
          <a:p>
            <a:pPr indent="0" marL="0">
              <a:buNone/>
            </a:pPr>
            <a:r>
              <a:rPr lang="en-US" sz="950" spc="400" kern="0" dirty="0">
                <a:solidFill>
                  <a:srgbClr val="A9AFB8"/>
                </a:solidFill>
                <a:latin typeface="Consolas" pitchFamily="34" charset="0"/>
                <a:ea typeface="Consolas" pitchFamily="34" charset="-122"/>
                <a:cs typeface="Consolas" pitchFamily="34" charset="-120"/>
              </a:rPr>
              <a:t>PHONE</a:t>
            </a:r>
            <a:endParaRPr lang="en-US" sz="950" dirty="0"/>
          </a:p>
        </p:txBody>
      </p:sp>
      <p:sp>
        <p:nvSpPr>
          <p:cNvPr id="14" name="Text 10"/>
          <p:cNvSpPr txBox="1"/>
          <p:nvPr/>
        </p:nvSpPr>
        <p:spPr>
          <a:xfrm>
            <a:off x="8229600" y="2011680"/>
            <a:ext cx="3291840" cy="365760"/>
          </a:xfrm>
          <a:prstGeom prst="rect">
            <a:avLst/>
          </a:prstGeom>
          <a:noFill/>
          <a:ln/>
        </p:spPr>
        <p:txBody>
          <a:bodyPr wrap="square" lIns="0" tIns="0" rIns="0" bIns="0" rtlCol="0" anchor="ctr"/>
          <a:lstStyle/>
          <a:p>
            <a:pPr indent="0" marL="0">
              <a:buNone/>
            </a:pPr>
            <a:r>
              <a:rPr lang="en-US" sz="1700" dirty="0">
                <a:solidFill>
                  <a:srgbClr val="F4F4F2"/>
                </a:solidFill>
                <a:latin typeface="Calibri" pitchFamily="34" charset="0"/>
                <a:ea typeface="Calibri" pitchFamily="34" charset="-122"/>
                <a:cs typeface="Calibri" pitchFamily="34" charset="-120"/>
              </a:rPr>
              <a:t>+971 52 259 6385</a:t>
            </a:r>
            <a:endParaRPr lang="en-US" sz="1700" dirty="0"/>
          </a:p>
        </p:txBody>
      </p:sp>
      <p:sp>
        <p:nvSpPr>
          <p:cNvPr id="15" name="Shape 11"/>
          <p:cNvSpPr/>
          <p:nvPr/>
        </p:nvSpPr>
        <p:spPr>
          <a:xfrm>
            <a:off x="7315200" y="2743200"/>
            <a:ext cx="640080" cy="640080"/>
          </a:xfrm>
          <a:prstGeom prst="ellipse">
            <a:avLst/>
          </a:prstGeom>
          <a:solidFill>
            <a:srgbClr val="3A3C42"/>
          </a:solidFill>
          <a:ln w="9525">
            <a:solidFill>
              <a:srgbClr val="4A4C53"/>
            </a:solidFill>
            <a:prstDash val="solid"/>
          </a:ln>
        </p:spPr>
      </p:sp>
      <p:pic>
        <p:nvPicPr>
          <p:cNvPr id="16" name="Image 2" descr="/tmp/build/assets/image-12-3-95.png">    </p:cNvPr>
          <p:cNvPicPr>
            <a:picLocks noChangeAspect="1"/>
          </p:cNvPicPr>
          <p:nvPr/>
        </p:nvPicPr>
        <p:blipFill>
          <a:blip r:embed="rId4"/>
          <a:stretch>
            <a:fillRect/>
          </a:stretch>
        </p:blipFill>
        <p:spPr>
          <a:xfrm>
            <a:off x="7475220" y="2903220"/>
            <a:ext cx="320040" cy="320040"/>
          </a:xfrm>
          <a:prstGeom prst="rect">
            <a:avLst/>
          </a:prstGeom>
        </p:spPr>
      </p:pic>
      <p:sp>
        <p:nvSpPr>
          <p:cNvPr id="17" name="Text 12"/>
          <p:cNvSpPr txBox="1"/>
          <p:nvPr/>
        </p:nvSpPr>
        <p:spPr>
          <a:xfrm>
            <a:off x="8229600" y="2770632"/>
            <a:ext cx="3200400" cy="228600"/>
          </a:xfrm>
          <a:prstGeom prst="rect">
            <a:avLst/>
          </a:prstGeom>
          <a:noFill/>
          <a:ln/>
        </p:spPr>
        <p:txBody>
          <a:bodyPr wrap="square" lIns="0" tIns="0" rIns="0" bIns="0" rtlCol="0" anchor="ctr"/>
          <a:lstStyle/>
          <a:p>
            <a:pPr indent="0" marL="0">
              <a:buNone/>
            </a:pPr>
            <a:r>
              <a:rPr lang="en-US" sz="950" spc="400" kern="0" dirty="0">
                <a:solidFill>
                  <a:srgbClr val="A9AFB8"/>
                </a:solidFill>
                <a:latin typeface="Consolas" pitchFamily="34" charset="0"/>
                <a:ea typeface="Consolas" pitchFamily="34" charset="-122"/>
                <a:cs typeface="Consolas" pitchFamily="34" charset="-120"/>
              </a:rPr>
              <a:t>EMAIL</a:t>
            </a:r>
            <a:endParaRPr lang="en-US" sz="950" dirty="0"/>
          </a:p>
        </p:txBody>
      </p:sp>
      <p:sp>
        <p:nvSpPr>
          <p:cNvPr id="18" name="Text 13"/>
          <p:cNvSpPr txBox="1"/>
          <p:nvPr/>
        </p:nvSpPr>
        <p:spPr>
          <a:xfrm>
            <a:off x="8229600" y="3017520"/>
            <a:ext cx="3291840" cy="365760"/>
          </a:xfrm>
          <a:prstGeom prst="rect">
            <a:avLst/>
          </a:prstGeom>
          <a:noFill/>
          <a:ln/>
        </p:spPr>
        <p:txBody>
          <a:bodyPr wrap="square" lIns="0" tIns="0" rIns="0" bIns="0" rtlCol="0" anchor="ctr"/>
          <a:lstStyle/>
          <a:p>
            <a:pPr indent="0" marL="0">
              <a:buNone/>
            </a:pPr>
            <a:r>
              <a:rPr lang="en-US" sz="1700" dirty="0">
                <a:solidFill>
                  <a:srgbClr val="F4F4F2"/>
                </a:solidFill>
                <a:latin typeface="Calibri" pitchFamily="34" charset="0"/>
                <a:ea typeface="Calibri" pitchFamily="34" charset="-122"/>
                <a:cs typeface="Calibri" pitchFamily="34" charset="-120"/>
              </a:rPr>
              <a:t>info@silverlinead.com</a:t>
            </a:r>
            <a:endParaRPr lang="en-US" sz="1700" dirty="0"/>
          </a:p>
        </p:txBody>
      </p:sp>
      <p:sp>
        <p:nvSpPr>
          <p:cNvPr id="19" name="Shape 14"/>
          <p:cNvSpPr/>
          <p:nvPr/>
        </p:nvSpPr>
        <p:spPr>
          <a:xfrm>
            <a:off x="7315200" y="3749040"/>
            <a:ext cx="640080" cy="640080"/>
          </a:xfrm>
          <a:prstGeom prst="ellipse">
            <a:avLst/>
          </a:prstGeom>
          <a:solidFill>
            <a:srgbClr val="3A3C42"/>
          </a:solidFill>
          <a:ln w="9525">
            <a:solidFill>
              <a:srgbClr val="4A4C53"/>
            </a:solidFill>
            <a:prstDash val="solid"/>
          </a:ln>
        </p:spPr>
      </p:sp>
      <p:pic>
        <p:nvPicPr>
          <p:cNvPr id="20" name="Image 3" descr="/tmp/build/assets/image-11-3-90.png">    </p:cNvPr>
          <p:cNvPicPr>
            <a:picLocks noChangeAspect="1"/>
          </p:cNvPicPr>
          <p:nvPr/>
        </p:nvPicPr>
        <p:blipFill>
          <a:blip r:embed="rId5"/>
          <a:stretch>
            <a:fillRect/>
          </a:stretch>
        </p:blipFill>
        <p:spPr>
          <a:xfrm>
            <a:off x="7475220" y="3909060"/>
            <a:ext cx="320040" cy="320040"/>
          </a:xfrm>
          <a:prstGeom prst="rect">
            <a:avLst/>
          </a:prstGeom>
        </p:spPr>
      </p:pic>
      <p:sp>
        <p:nvSpPr>
          <p:cNvPr id="21" name="Text 15"/>
          <p:cNvSpPr txBox="1"/>
          <p:nvPr/>
        </p:nvSpPr>
        <p:spPr>
          <a:xfrm>
            <a:off x="8229600" y="3776472"/>
            <a:ext cx="3200400" cy="228600"/>
          </a:xfrm>
          <a:prstGeom prst="rect">
            <a:avLst/>
          </a:prstGeom>
          <a:noFill/>
          <a:ln/>
        </p:spPr>
        <p:txBody>
          <a:bodyPr wrap="square" lIns="0" tIns="0" rIns="0" bIns="0" rtlCol="0" anchor="ctr"/>
          <a:lstStyle/>
          <a:p>
            <a:pPr indent="0" marL="0">
              <a:buNone/>
            </a:pPr>
            <a:r>
              <a:rPr lang="en-US" sz="950" spc="400" kern="0" dirty="0">
                <a:solidFill>
                  <a:srgbClr val="A9AFB8"/>
                </a:solidFill>
                <a:latin typeface="Consolas" pitchFamily="34" charset="0"/>
                <a:ea typeface="Consolas" pitchFamily="34" charset="-122"/>
                <a:cs typeface="Consolas" pitchFamily="34" charset="-120"/>
              </a:rPr>
              <a:t>WEBSITE</a:t>
            </a:r>
            <a:endParaRPr lang="en-US" sz="950" dirty="0"/>
          </a:p>
        </p:txBody>
      </p:sp>
      <p:sp>
        <p:nvSpPr>
          <p:cNvPr id="22" name="Text 16"/>
          <p:cNvSpPr txBox="1"/>
          <p:nvPr/>
        </p:nvSpPr>
        <p:spPr>
          <a:xfrm>
            <a:off x="8229600" y="4023360"/>
            <a:ext cx="3291840" cy="365760"/>
          </a:xfrm>
          <a:prstGeom prst="rect">
            <a:avLst/>
          </a:prstGeom>
          <a:noFill/>
          <a:ln/>
        </p:spPr>
        <p:txBody>
          <a:bodyPr wrap="square" lIns="0" tIns="0" rIns="0" bIns="0" rtlCol="0" anchor="ctr"/>
          <a:lstStyle/>
          <a:p>
            <a:pPr indent="0" marL="0">
              <a:buNone/>
            </a:pPr>
            <a:r>
              <a:rPr lang="en-US" sz="1700" dirty="0">
                <a:solidFill>
                  <a:srgbClr val="F4F4F2"/>
                </a:solidFill>
                <a:latin typeface="Calibri" pitchFamily="34" charset="0"/>
                <a:ea typeface="Calibri" pitchFamily="34" charset="-122"/>
                <a:cs typeface="Calibri" pitchFamily="34" charset="-120"/>
              </a:rPr>
              <a:t>www.silverlinead.com</a:t>
            </a:r>
            <a:endParaRPr lang="en-US" sz="1700" dirty="0"/>
          </a:p>
        </p:txBody>
      </p:sp>
      <p:sp>
        <p:nvSpPr>
          <p:cNvPr id="23" name="Shape 17"/>
          <p:cNvSpPr/>
          <p:nvPr/>
        </p:nvSpPr>
        <p:spPr>
          <a:xfrm>
            <a:off x="7315200" y="4754880"/>
            <a:ext cx="640080" cy="640080"/>
          </a:xfrm>
          <a:prstGeom prst="ellipse">
            <a:avLst/>
          </a:prstGeom>
          <a:solidFill>
            <a:srgbClr val="3A3C42"/>
          </a:solidFill>
          <a:ln w="9525">
            <a:solidFill>
              <a:srgbClr val="4A4C53"/>
            </a:solidFill>
            <a:prstDash val="solid"/>
          </a:ln>
        </p:spPr>
      </p:sp>
      <p:pic>
        <p:nvPicPr>
          <p:cNvPr id="24" name="Image 4" descr="/tmp/build/assets/image-11-4-91.png">    </p:cNvPr>
          <p:cNvPicPr>
            <a:picLocks noChangeAspect="1"/>
          </p:cNvPicPr>
          <p:nvPr/>
        </p:nvPicPr>
        <p:blipFill>
          <a:blip r:embed="rId6"/>
          <a:stretch>
            <a:fillRect/>
          </a:stretch>
        </p:blipFill>
        <p:spPr>
          <a:xfrm>
            <a:off x="7475220" y="4914900"/>
            <a:ext cx="320040" cy="320040"/>
          </a:xfrm>
          <a:prstGeom prst="rect">
            <a:avLst/>
          </a:prstGeom>
        </p:spPr>
      </p:pic>
      <p:sp>
        <p:nvSpPr>
          <p:cNvPr id="25" name="Text 18"/>
          <p:cNvSpPr txBox="1"/>
          <p:nvPr/>
        </p:nvSpPr>
        <p:spPr>
          <a:xfrm>
            <a:off x="8229600" y="4782312"/>
            <a:ext cx="3200400" cy="228600"/>
          </a:xfrm>
          <a:prstGeom prst="rect">
            <a:avLst/>
          </a:prstGeom>
          <a:noFill/>
          <a:ln/>
        </p:spPr>
        <p:txBody>
          <a:bodyPr wrap="square" lIns="0" tIns="0" rIns="0" bIns="0" rtlCol="0" anchor="ctr"/>
          <a:lstStyle/>
          <a:p>
            <a:pPr indent="0" marL="0">
              <a:buNone/>
            </a:pPr>
            <a:r>
              <a:rPr lang="en-US" sz="950" spc="400" kern="0" dirty="0">
                <a:solidFill>
                  <a:srgbClr val="A9AFB8"/>
                </a:solidFill>
                <a:latin typeface="Consolas" pitchFamily="34" charset="0"/>
                <a:ea typeface="Consolas" pitchFamily="34" charset="-122"/>
                <a:cs typeface="Consolas" pitchFamily="34" charset="-120"/>
              </a:rPr>
              <a:t>OFFICE</a:t>
            </a:r>
            <a:endParaRPr lang="en-US" sz="950" dirty="0"/>
          </a:p>
        </p:txBody>
      </p:sp>
      <p:sp>
        <p:nvSpPr>
          <p:cNvPr id="26" name="Text 19"/>
          <p:cNvSpPr txBox="1"/>
          <p:nvPr/>
        </p:nvSpPr>
        <p:spPr>
          <a:xfrm>
            <a:off x="8229600" y="5029200"/>
            <a:ext cx="3291840" cy="365760"/>
          </a:xfrm>
          <a:prstGeom prst="rect">
            <a:avLst/>
          </a:prstGeom>
          <a:noFill/>
          <a:ln/>
        </p:spPr>
        <p:txBody>
          <a:bodyPr wrap="square" lIns="0" tIns="0" rIns="0" bIns="0" rtlCol="0" anchor="ctr"/>
          <a:lstStyle/>
          <a:p>
            <a:pPr indent="0" marL="0">
              <a:buNone/>
            </a:pPr>
            <a:r>
              <a:rPr lang="en-US" sz="1700" dirty="0">
                <a:solidFill>
                  <a:srgbClr val="F4F4F2"/>
                </a:solidFill>
                <a:latin typeface="Calibri" pitchFamily="34" charset="0"/>
                <a:ea typeface="Calibri" pitchFamily="34" charset="-122"/>
                <a:cs typeface="Calibri" pitchFamily="34" charset="-120"/>
              </a:rPr>
              <a:t>Dubai, United Arab Emirates</a:t>
            </a:r>
            <a:endParaRPr lang="en-US" sz="1700" dirty="0"/>
          </a:p>
        </p:txBody>
      </p:sp>
      <p:sp>
        <p:nvSpPr>
          <p:cNvPr id="27" name="Text 20"/>
          <p:cNvSpPr txBox="1"/>
          <p:nvPr/>
        </p:nvSpPr>
        <p:spPr>
          <a:xfrm>
            <a:off x="640080" y="5806440"/>
            <a:ext cx="5486400" cy="274320"/>
          </a:xfrm>
          <a:prstGeom prst="rect">
            <a:avLst/>
          </a:prstGeom>
          <a:noFill/>
          <a:ln/>
        </p:spPr>
        <p:txBody>
          <a:bodyPr wrap="square" lIns="0" tIns="0" rIns="0" bIns="0" rtlCol="0" anchor="ctr"/>
          <a:lstStyle/>
          <a:p>
            <a:pPr indent="0" marL="0">
              <a:buNone/>
            </a:pPr>
            <a:r>
              <a:rPr lang="en-US" sz="1000" spc="300" kern="0" dirty="0">
                <a:solidFill>
                  <a:srgbClr val="A9AFB8"/>
                </a:solidFill>
                <a:latin typeface="Consolas" pitchFamily="34" charset="0"/>
                <a:ea typeface="Consolas" pitchFamily="34" charset="-122"/>
                <a:cs typeface="Consolas" pitchFamily="34" charset="-120"/>
              </a:rPr>
              <a:t>Silverline Advertising LLC</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build/assets/logo.png">    </p:cNvPr>
          <p:cNvPicPr>
            <a:picLocks noChangeAspect="1"/>
          </p:cNvPicPr>
          <p:nvPr/>
        </p:nvPicPr>
        <p:blipFill>
          <a:blip r:embed="rId2"/>
          <a:stretch>
            <a:fillRect/>
          </a:stretch>
        </p:blipFill>
        <p:spPr>
          <a:xfrm>
            <a:off x="640080" y="292608"/>
            <a:ext cx="1484797" cy="457200"/>
          </a:xfrm>
          <a:prstGeom prst="rect">
            <a:avLst/>
          </a:prstGeom>
        </p:spPr>
      </p:pic>
      <p:sp>
        <p:nvSpPr>
          <p:cNvPr id="3" name="Text 0"/>
          <p:cNvSpPr txBox="1"/>
          <p:nvPr/>
        </p:nvSpPr>
        <p:spPr>
          <a:xfrm>
            <a:off x="9720072" y="411480"/>
            <a:ext cx="1828800" cy="274320"/>
          </a:xfrm>
          <a:prstGeom prst="rect">
            <a:avLst/>
          </a:prstGeom>
          <a:noFill/>
          <a:ln/>
        </p:spPr>
        <p:txBody>
          <a:bodyPr wrap="square" lIns="0" tIns="0" rIns="0" bIns="0" rtlCol="0" anchor="ctr"/>
          <a:lstStyle/>
          <a:p>
            <a:pPr algn="r" indent="0" marL="0">
              <a:buNone/>
            </a:pPr>
            <a:r>
              <a:rPr lang="en-US" sz="1000" spc="300" kern="0" dirty="0">
                <a:solidFill>
                  <a:srgbClr val="A9AFB8"/>
                </a:solidFill>
                <a:latin typeface="Consolas" pitchFamily="34" charset="0"/>
                <a:ea typeface="Consolas" pitchFamily="34" charset="-122"/>
                <a:cs typeface="Consolas" pitchFamily="34" charset="-120"/>
              </a:rPr>
              <a:t>04 / 07</a:t>
            </a:r>
            <a:endParaRPr lang="en-US" sz="1000" dirty="0"/>
          </a:p>
        </p:txBody>
      </p:sp>
      <p:sp>
        <p:nvSpPr>
          <p:cNvPr id="4" name="Shape 1"/>
          <p:cNvSpPr/>
          <p:nvPr/>
        </p:nvSpPr>
        <p:spPr>
          <a:xfrm>
            <a:off x="640080" y="6355080"/>
            <a:ext cx="10908792" cy="0"/>
          </a:xfrm>
          <a:prstGeom prst="line">
            <a:avLst/>
          </a:prstGeom>
          <a:noFill/>
          <a:ln w="9525">
            <a:solidFill>
              <a:srgbClr val="4A4C53"/>
            </a:solidFill>
            <a:prstDash val="solid"/>
          </a:ln>
        </p:spPr>
      </p:sp>
      <p:sp>
        <p:nvSpPr>
          <p:cNvPr id="5" name="Text 2"/>
          <p:cNvSpPr txBox="1"/>
          <p:nvPr/>
        </p:nvSpPr>
        <p:spPr>
          <a:xfrm>
            <a:off x="640080" y="6428232"/>
            <a:ext cx="7132320" cy="228600"/>
          </a:xfrm>
          <a:prstGeom prst="rect">
            <a:avLst/>
          </a:prstGeom>
          <a:noFill/>
          <a:ln/>
        </p:spPr>
        <p:txBody>
          <a:bodyPr wrap="square" lIns="0" tIns="0" rIns="0" bIns="0" rtlCol="0" anchor="ctr"/>
          <a:lstStyle/>
          <a:p>
            <a:pPr indent="0" marL="0">
              <a:buNone/>
            </a:pPr>
            <a:r>
              <a:rPr lang="en-US" sz="850" spc="300" kern="0" dirty="0">
                <a:solidFill>
                  <a:srgbClr val="A9AFB8"/>
                </a:solidFill>
                <a:latin typeface="Consolas" pitchFamily="34" charset="0"/>
                <a:ea typeface="Consolas" pitchFamily="34" charset="-122"/>
                <a:cs typeface="Consolas" pitchFamily="34" charset="-120"/>
              </a:rPr>
              <a:t>BRANDING SOLUTIONS  |  PROMOTIONAL STANDS  |  BANNERS  |  SIGNAGE</a:t>
            </a:r>
            <a:endParaRPr lang="en-US" sz="850" dirty="0"/>
          </a:p>
        </p:txBody>
      </p:sp>
      <p:sp>
        <p:nvSpPr>
          <p:cNvPr id="6" name="Text 3"/>
          <p:cNvSpPr txBox="1"/>
          <p:nvPr/>
        </p:nvSpPr>
        <p:spPr>
          <a:xfrm>
            <a:off x="7891272" y="6428232"/>
            <a:ext cx="3657600" cy="228600"/>
          </a:xfrm>
          <a:prstGeom prst="rect">
            <a:avLst/>
          </a:prstGeom>
          <a:noFill/>
          <a:ln/>
        </p:spPr>
        <p:txBody>
          <a:bodyPr wrap="square" lIns="0" tIns="0" rIns="0" bIns="0" rtlCol="0" anchor="ctr"/>
          <a:lstStyle/>
          <a:p>
            <a:pPr algn="r" indent="0" marL="0">
              <a:buNone/>
            </a:pPr>
            <a:r>
              <a:rPr lang="en-US" sz="850" spc="300" kern="0" dirty="0">
                <a:solidFill>
                  <a:srgbClr val="A9AFB8"/>
                </a:solidFill>
                <a:latin typeface="Consolas" pitchFamily="34" charset="0"/>
                <a:ea typeface="Consolas" pitchFamily="34" charset="-122"/>
                <a:cs typeface="Consolas" pitchFamily="34" charset="-120"/>
              </a:rPr>
              <a:t>SILVERLINEAD.COM</a:t>
            </a:r>
            <a:endParaRPr lang="en-US" sz="850" dirty="0"/>
          </a:p>
        </p:txBody>
      </p:sp>
      <p:sp>
        <p:nvSpPr>
          <p:cNvPr id="7" name="Shape 4"/>
          <p:cNvSpPr/>
          <p:nvPr/>
        </p:nvSpPr>
        <p:spPr>
          <a:xfrm rot="2700000">
            <a:off x="658368" y="1252728"/>
            <a:ext cx="109728" cy="109728"/>
          </a:xfrm>
          <a:prstGeom prst="rect">
            <a:avLst/>
          </a:prstGeom>
          <a:solidFill>
            <a:srgbClr val="A9AFB8"/>
          </a:solidFill>
          <a:ln w="12700">
            <a:solidFill>
              <a:srgbClr val="A9AFB8"/>
            </a:solidFill>
            <a:prstDash val="solid"/>
          </a:ln>
        </p:spPr>
      </p:sp>
      <p:sp>
        <p:nvSpPr>
          <p:cNvPr id="30" name="Label"/>
          <p:cNvSpPr txBox="1"/>
          <p:nvPr/>
        </p:nvSpPr>
        <p:spPr>
          <a:xfrm>
            <a:off x="932688" y="1188720"/>
            <a:ext cx="7315200" cy="237744"/>
          </a:xfrm>
          <a:prstGeom prst="rect">
            <a:avLst/>
          </a:prstGeom>
          <a:noFill/>
          <a:ln/>
        </p:spPr>
        <p:txBody>
          <a:bodyPr wrap="square" lIns="0" tIns="0" rIns="0" bIns="0" rtlCol="0" anchor="ctr"/>
          <a:lstStyle/>
          <a:p>
            <a:pPr algn="l" indent="0" marL="0">
              <a:buNone/>
            </a:pPr>
            <a:r>
              <a:rPr lang="en-US" sz="1100" spc="500" kern="0" dirty="0">
                <a:solidFill>
                  <a:srgbClr val="A9AFB8"/>
                </a:solidFill>
                <a:latin typeface="Consolas"/>
                <a:ea typeface="Consolas"/>
                <a:cs typeface="Consolas"/>
              </a:rPr>
              <a:t>SELECTED WORK</a:t>
            </a:r>
          </a:p>
        </p:txBody>
      </p:sp>
      <p:sp>
        <p:nvSpPr>
          <p:cNvPr id="31" name="Title"/>
          <p:cNvSpPr txBox="1"/>
          <p:nvPr/>
        </p:nvSpPr>
        <p:spPr>
          <a:xfrm>
            <a:off x="640080" y="1554480"/>
            <a:ext cx="10881360" cy="731520"/>
          </a:xfrm>
          <a:prstGeom prst="rect">
            <a:avLst/>
          </a:prstGeom>
          <a:noFill/>
          <a:ln/>
        </p:spPr>
        <p:txBody>
          <a:bodyPr wrap="square" lIns="0" tIns="0" rIns="0" bIns="0" rtlCol="0" anchor="t"/>
          <a:lstStyle/>
          <a:p>
            <a:pPr algn="l" indent="0" marL="0">
              <a:lnSpc>
                <a:spcPct val="95000"/>
              </a:lnSpc>
              <a:buNone/>
            </a:pPr>
            <a:r>
              <a:rPr lang="en-US" sz="3600" dirty="0">
                <a:solidFill>
                  <a:srgbClr val="F4F4F2"/>
                </a:solidFill>
                <a:latin typeface="Arial Black"/>
                <a:ea typeface="Arial Black"/>
                <a:cs typeface="Arial Black"/>
              </a:rPr>
              <a:t>FEATURED PROJECTS</a:t>
            </a:r>
          </a:p>
        </p:txBody>
      </p:sp>
      <p:pic>
        <p:nvPicPr>
          <p:cNvPr id="40" name="Project 1" descr="INDOOR SIGNAGE"/>
          <p:cNvPicPr>
            <a:picLocks noChangeAspect="1"/>
          </p:cNvPicPr>
          <p:nvPr/>
        </p:nvPicPr>
        <p:blipFill>
          <a:blip r:embed="rId20"/>
          <a:stretch>
            <a:fillRect/>
          </a:stretch>
        </p:blipFill>
        <p:spPr>
          <a:xfrm>
            <a:off x="640080" y="3200400"/>
            <a:ext cx="1661160" cy="1661160"/>
          </a:xfrm>
          <a:prstGeom prst="roundRect">
            <a:avLst>
              <a:gd name="adj" fmla="val 4000"/>
            </a:avLst>
          </a:prstGeom>
        </p:spPr>
      </p:pic>
      <p:sp>
        <p:nvSpPr>
          <p:cNvPr id="50" name="Caption 1"/>
          <p:cNvSpPr txBox="1"/>
          <p:nvPr/>
        </p:nvSpPr>
        <p:spPr>
          <a:xfrm>
            <a:off x="640080" y="4998720"/>
            <a:ext cx="1661160" cy="420000"/>
          </a:xfrm>
          <a:prstGeom prst="rect">
            <a:avLst/>
          </a:prstGeom>
          <a:noFill/>
          <a:ln/>
        </p:spPr>
        <p:txBody>
          <a:bodyPr wrap="square" lIns="0" tIns="0" rIns="0" bIns="0" rtlCol="0" anchor="t"/>
          <a:lstStyle/>
          <a:p>
            <a:pPr algn="l" indent="0" marL="0">
              <a:lnSpc>
                <a:spcPct val="115000"/>
              </a:lnSpc>
              <a:buNone/>
            </a:pPr>
            <a:r>
              <a:rPr lang="en-US" sz="900" spc="100" kern="0" dirty="0">
                <a:solidFill>
                  <a:srgbClr val="A9AFB8"/>
                </a:solidFill>
                <a:latin typeface="Consolas"/>
                <a:ea typeface="Consolas"/>
                <a:cs typeface="Consolas"/>
              </a:rPr>
              <a:t>INDOOR SIGNAGE</a:t>
            </a:r>
          </a:p>
        </p:txBody>
      </p:sp>
      <p:pic>
        <p:nvPicPr>
          <p:cNvPr id="41" name="Project 2" descr="OUTDOOR SIGNAGE"/>
          <p:cNvPicPr>
            <a:picLocks noChangeAspect="1"/>
          </p:cNvPicPr>
          <p:nvPr/>
        </p:nvPicPr>
        <p:blipFill>
          <a:blip r:embed="rId21"/>
          <a:stretch>
            <a:fillRect/>
          </a:stretch>
        </p:blipFill>
        <p:spPr>
          <a:xfrm>
            <a:off x="2484120" y="3200400"/>
            <a:ext cx="1661160" cy="1661160"/>
          </a:xfrm>
          <a:prstGeom prst="roundRect">
            <a:avLst>
              <a:gd name="adj" fmla="val 4000"/>
            </a:avLst>
          </a:prstGeom>
        </p:spPr>
      </p:pic>
      <p:sp>
        <p:nvSpPr>
          <p:cNvPr id="51" name="Caption 2"/>
          <p:cNvSpPr txBox="1"/>
          <p:nvPr/>
        </p:nvSpPr>
        <p:spPr>
          <a:xfrm>
            <a:off x="2484120" y="4998720"/>
            <a:ext cx="1661160" cy="420000"/>
          </a:xfrm>
          <a:prstGeom prst="rect">
            <a:avLst/>
          </a:prstGeom>
          <a:noFill/>
          <a:ln/>
        </p:spPr>
        <p:txBody>
          <a:bodyPr wrap="square" lIns="0" tIns="0" rIns="0" bIns="0" rtlCol="0" anchor="t"/>
          <a:lstStyle/>
          <a:p>
            <a:pPr algn="l" indent="0" marL="0">
              <a:lnSpc>
                <a:spcPct val="115000"/>
              </a:lnSpc>
              <a:buNone/>
            </a:pPr>
            <a:r>
              <a:rPr lang="en-US" sz="900" spc="100" kern="0" dirty="0">
                <a:solidFill>
                  <a:srgbClr val="A9AFB8"/>
                </a:solidFill>
                <a:latin typeface="Consolas"/>
                <a:ea typeface="Consolas"/>
                <a:cs typeface="Consolas"/>
              </a:rPr>
              <a:t>OUTDOOR SIGNAGE</a:t>
            </a:r>
          </a:p>
        </p:txBody>
      </p:sp>
      <p:pic>
        <p:nvPicPr>
          <p:cNvPr id="42" name="Project 3" descr="EXHIBITION STANDS"/>
          <p:cNvPicPr>
            <a:picLocks noChangeAspect="1"/>
          </p:cNvPicPr>
          <p:nvPr/>
        </p:nvPicPr>
        <p:blipFill>
          <a:blip r:embed="rId22"/>
          <a:stretch>
            <a:fillRect/>
          </a:stretch>
        </p:blipFill>
        <p:spPr>
          <a:xfrm>
            <a:off x="4328160" y="3200400"/>
            <a:ext cx="1661160" cy="1661160"/>
          </a:xfrm>
          <a:prstGeom prst="roundRect">
            <a:avLst>
              <a:gd name="adj" fmla="val 4000"/>
            </a:avLst>
          </a:prstGeom>
        </p:spPr>
      </p:pic>
      <p:sp>
        <p:nvSpPr>
          <p:cNvPr id="52" name="Caption 3"/>
          <p:cNvSpPr txBox="1"/>
          <p:nvPr/>
        </p:nvSpPr>
        <p:spPr>
          <a:xfrm>
            <a:off x="4328160" y="4998720"/>
            <a:ext cx="1661160" cy="420000"/>
          </a:xfrm>
          <a:prstGeom prst="rect">
            <a:avLst/>
          </a:prstGeom>
          <a:noFill/>
          <a:ln/>
        </p:spPr>
        <p:txBody>
          <a:bodyPr wrap="square" lIns="0" tIns="0" rIns="0" bIns="0" rtlCol="0" anchor="t"/>
          <a:lstStyle/>
          <a:p>
            <a:pPr algn="l" indent="0" marL="0">
              <a:lnSpc>
                <a:spcPct val="115000"/>
              </a:lnSpc>
              <a:buNone/>
            </a:pPr>
            <a:r>
              <a:rPr lang="en-US" sz="900" spc="100" kern="0" dirty="0">
                <a:solidFill>
                  <a:srgbClr val="A9AFB8"/>
                </a:solidFill>
                <a:latin typeface="Consolas"/>
                <a:ea typeface="Consolas"/>
                <a:cs typeface="Consolas"/>
              </a:rPr>
              <a:t>EXHIBITION STANDS</a:t>
            </a:r>
          </a:p>
        </p:txBody>
      </p:sp>
      <p:pic>
        <p:nvPicPr>
          <p:cNvPr id="43" name="Project 4" descr="RETAIL &amp; CORPORATE BRANDING"/>
          <p:cNvPicPr>
            <a:picLocks noChangeAspect="1"/>
          </p:cNvPicPr>
          <p:nvPr/>
        </p:nvPicPr>
        <p:blipFill>
          <a:blip r:embed="rId23"/>
          <a:stretch>
            <a:fillRect/>
          </a:stretch>
        </p:blipFill>
        <p:spPr>
          <a:xfrm>
            <a:off x="6172200" y="3200400"/>
            <a:ext cx="1661160" cy="1661160"/>
          </a:xfrm>
          <a:prstGeom prst="roundRect">
            <a:avLst>
              <a:gd name="adj" fmla="val 4000"/>
            </a:avLst>
          </a:prstGeom>
        </p:spPr>
      </p:pic>
      <p:sp>
        <p:nvSpPr>
          <p:cNvPr id="53" name="Caption 4"/>
          <p:cNvSpPr txBox="1"/>
          <p:nvPr/>
        </p:nvSpPr>
        <p:spPr>
          <a:xfrm>
            <a:off x="6172200" y="4998720"/>
            <a:ext cx="1661160" cy="420000"/>
          </a:xfrm>
          <a:prstGeom prst="rect">
            <a:avLst/>
          </a:prstGeom>
          <a:noFill/>
          <a:ln/>
        </p:spPr>
        <p:txBody>
          <a:bodyPr wrap="square" lIns="0" tIns="0" rIns="0" bIns="0" rtlCol="0" anchor="t"/>
          <a:lstStyle/>
          <a:p>
            <a:pPr algn="l" indent="0" marL="0">
              <a:lnSpc>
                <a:spcPct val="115000"/>
              </a:lnSpc>
              <a:buNone/>
            </a:pPr>
            <a:r>
              <a:rPr lang="en-US" sz="900" spc="100" kern="0" dirty="0">
                <a:solidFill>
                  <a:srgbClr val="A9AFB8"/>
                </a:solidFill>
                <a:latin typeface="Consolas"/>
                <a:ea typeface="Consolas"/>
                <a:cs typeface="Consolas"/>
              </a:rPr>
              <a:t>RETAIL &amp; CORPORATE BRANDING</a:t>
            </a:r>
          </a:p>
        </p:txBody>
      </p:sp>
      <p:pic>
        <p:nvPicPr>
          <p:cNvPr id="44" name="Project 5" descr="PROMOTIONS &amp; GIFTS"/>
          <p:cNvPicPr>
            <a:picLocks noChangeAspect="1"/>
          </p:cNvPicPr>
          <p:nvPr/>
        </p:nvPicPr>
        <p:blipFill>
          <a:blip r:embed="rId24"/>
          <a:stretch>
            <a:fillRect/>
          </a:stretch>
        </p:blipFill>
        <p:spPr>
          <a:xfrm>
            <a:off x="8016240" y="3200400"/>
            <a:ext cx="1661160" cy="1661160"/>
          </a:xfrm>
          <a:prstGeom prst="roundRect">
            <a:avLst>
              <a:gd name="adj" fmla="val 4000"/>
            </a:avLst>
          </a:prstGeom>
        </p:spPr>
      </p:pic>
      <p:sp>
        <p:nvSpPr>
          <p:cNvPr id="54" name="Caption 5"/>
          <p:cNvSpPr txBox="1"/>
          <p:nvPr/>
        </p:nvSpPr>
        <p:spPr>
          <a:xfrm>
            <a:off x="8016240" y="4998720"/>
            <a:ext cx="1661160" cy="420000"/>
          </a:xfrm>
          <a:prstGeom prst="rect">
            <a:avLst/>
          </a:prstGeom>
          <a:noFill/>
          <a:ln/>
        </p:spPr>
        <p:txBody>
          <a:bodyPr wrap="square" lIns="0" tIns="0" rIns="0" bIns="0" rtlCol="0" anchor="t"/>
          <a:lstStyle/>
          <a:p>
            <a:pPr algn="l" indent="0" marL="0">
              <a:lnSpc>
                <a:spcPct val="115000"/>
              </a:lnSpc>
              <a:buNone/>
            </a:pPr>
            <a:r>
              <a:rPr lang="en-US" sz="900" spc="100" kern="0" dirty="0">
                <a:solidFill>
                  <a:srgbClr val="A9AFB8"/>
                </a:solidFill>
                <a:latin typeface="Consolas"/>
                <a:ea typeface="Consolas"/>
                <a:cs typeface="Consolas"/>
              </a:rPr>
              <a:t>PROMOTIONS &amp; GIFTS</a:t>
            </a:r>
          </a:p>
        </p:txBody>
      </p:sp>
      <p:pic>
        <p:nvPicPr>
          <p:cNvPr id="45" name="Project 6" descr="DESIGN &amp; PRINT"/>
          <p:cNvPicPr>
            <a:picLocks noChangeAspect="1"/>
          </p:cNvPicPr>
          <p:nvPr/>
        </p:nvPicPr>
        <p:blipFill>
          <a:blip r:embed="rId25"/>
          <a:stretch>
            <a:fillRect/>
          </a:stretch>
        </p:blipFill>
        <p:spPr>
          <a:xfrm>
            <a:off x="9860280" y="3200400"/>
            <a:ext cx="1661160" cy="1661160"/>
          </a:xfrm>
          <a:prstGeom prst="roundRect">
            <a:avLst>
              <a:gd name="adj" fmla="val 4000"/>
            </a:avLst>
          </a:prstGeom>
        </p:spPr>
      </p:pic>
      <p:sp>
        <p:nvSpPr>
          <p:cNvPr id="55" name="Caption 6"/>
          <p:cNvSpPr txBox="1"/>
          <p:nvPr/>
        </p:nvSpPr>
        <p:spPr>
          <a:xfrm>
            <a:off x="9860280" y="4998720"/>
            <a:ext cx="1661160" cy="420000"/>
          </a:xfrm>
          <a:prstGeom prst="rect">
            <a:avLst/>
          </a:prstGeom>
          <a:noFill/>
          <a:ln/>
        </p:spPr>
        <p:txBody>
          <a:bodyPr wrap="square" lIns="0" tIns="0" rIns="0" bIns="0" rtlCol="0" anchor="t"/>
          <a:lstStyle/>
          <a:p>
            <a:pPr algn="l" indent="0" marL="0">
              <a:lnSpc>
                <a:spcPct val="115000"/>
              </a:lnSpc>
              <a:buNone/>
            </a:pPr>
            <a:r>
              <a:rPr lang="en-US" sz="900" spc="100" kern="0" dirty="0">
                <a:solidFill>
                  <a:srgbClr val="A9AFB8"/>
                </a:solidFill>
                <a:latin typeface="Consolas"/>
                <a:ea typeface="Consolas"/>
                <a:cs typeface="Consolas"/>
              </a:rPr>
              <a:t>DESIGN &amp; PRINT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Silverline Advertising LLC — Company Profile</dc:title>
  <dc:subject>PptxGenJS Presentation</dc:subject>
  <dc:creator>Silverline Advertising LLC</dc:creator>
  <cp:lastModifiedBy>Silverline Advertising LLC</cp:lastModifiedBy>
  <cp:revision>1</cp:revision>
  <dcterms:created xsi:type="dcterms:W3CDTF">2026-09-29T09:32:08Z</dcterms:created>
  <dcterms:modified xsi:type="dcterms:W3CDTF">2026-09-29T09:32:08Z</dcterms:modified>
</cp:coreProperties>
</file>